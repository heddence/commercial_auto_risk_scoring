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charts/chart8.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ptos"/>
          <a:ea typeface="Aptos"/>
          <a:cs typeface="Apto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ptos"/>
          <a:ea typeface="Aptos"/>
          <a:cs typeface="Apto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ptos"/>
          <a:ea typeface="Aptos"/>
          <a:cs typeface="Apto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ptos"/>
          <a:ea typeface="Aptos"/>
          <a:cs typeface="Apto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ptos"/>
          <a:ea typeface="Aptos"/>
          <a:cs typeface="Apto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ptos"/>
          <a:ea typeface="Aptos"/>
          <a:cs typeface="Apto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63781"/>
          <c:y val="0.0901458"/>
          <c:w val="0.831219"/>
          <c:h val="0.549497"/>
        </c:manualLayout>
      </c:layout>
      <c:lineChart>
        <c:grouping val="standard"/>
        <c:varyColors val="0"/>
        <c:ser>
          <c:idx val="0"/>
          <c:order val="0"/>
          <c:tx>
            <c:strRef>
              <c:f>Sheet1!$B$1</c:f>
              <c:strCache>
                <c:ptCount val="1"/>
                <c:pt idx="0">
                  <c:v>APD</c:v>
                </c:pt>
              </c:strCache>
            </c:strRef>
          </c:tx>
          <c:spPr>
            <a:solidFill>
              <a:srgbClr val="005DAA"/>
            </a:solidFill>
            <a:ln w="28575" cap="flat">
              <a:solidFill>
                <a:srgbClr val="005DAA"/>
              </a:solidFill>
              <a:prstDash val="solid"/>
              <a:round/>
            </a:ln>
            <a:effectLst/>
          </c:spPr>
          <c:marker>
            <c:symbol val="circle"/>
            <c:size val="5"/>
            <c:spPr>
              <a:solidFill>
                <a:srgbClr val="005DAA"/>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Sheet1!$A$2:$A$4</c:f>
              <c:strCache>
                <c:ptCount val="3"/>
                <c:pt idx="0">
                  <c:v>0-5</c:v>
                </c:pt>
                <c:pt idx="1">
                  <c:v>6-10</c:v>
                </c:pt>
                <c:pt idx="2">
                  <c:v>11+</c:v>
                </c:pt>
              </c:strCache>
            </c:strRef>
          </c:cat>
          <c:val>
            <c:numRef>
              <c:f>Sheet1!$B$2:$B$4</c:f>
              <c:numCache>
                <c:ptCount val="3"/>
                <c:pt idx="0">
                  <c:v>0.082292</c:v>
                </c:pt>
                <c:pt idx="1">
                  <c:v>0.147742</c:v>
                </c:pt>
                <c:pt idx="2">
                  <c:v>0.247942</c:v>
                </c:pt>
              </c:numCache>
            </c:numRef>
          </c:val>
          <c:smooth val="0"/>
        </c:ser>
        <c:ser>
          <c:idx val="1"/>
          <c:order val="1"/>
          <c:tx>
            <c:strRef>
              <c:f>Sheet1!$C$1</c:f>
              <c:strCache>
                <c:ptCount val="1"/>
                <c:pt idx="0">
                  <c:v>AL</c:v>
                </c:pt>
              </c:strCache>
            </c:strRef>
          </c:tx>
          <c:spPr>
            <a:solidFill>
              <a:srgbClr val="008B87"/>
            </a:solidFill>
            <a:ln w="28575" cap="flat">
              <a:solidFill>
                <a:srgbClr val="008B87"/>
              </a:solidFill>
              <a:prstDash val="solid"/>
              <a:round/>
            </a:ln>
            <a:effectLst/>
          </c:spPr>
          <c:marker>
            <c:symbol val="circle"/>
            <c:size val="5"/>
            <c:spPr>
              <a:solidFill>
                <a:srgbClr val="008B87"/>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Sheet1!$A$2:$A$4</c:f>
              <c:strCache>
                <c:ptCount val="3"/>
                <c:pt idx="0">
                  <c:v>0-5</c:v>
                </c:pt>
                <c:pt idx="1">
                  <c:v>6-10</c:v>
                </c:pt>
                <c:pt idx="2">
                  <c:v>11+</c:v>
                </c:pt>
              </c:strCache>
            </c:strRef>
          </c:cat>
          <c:val>
            <c:numRef>
              <c:f>Sheet1!$C$2:$C$4</c:f>
              <c:numCache>
                <c:ptCount val="3"/>
                <c:pt idx="0">
                  <c:v>0.045596</c:v>
                </c:pt>
                <c:pt idx="1">
                  <c:v>0.088083</c:v>
                </c:pt>
                <c:pt idx="2">
                  <c:v>0.139808</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400" u="none">
                <a:solidFill>
                  <a:srgbClr val="52677D"/>
                </a:solidFill>
                <a:latin typeface="Nimbus Sans"/>
              </a:defRPr>
            </a:pPr>
          </a:p>
        </c:txPr>
        <c:crossAx val="2094734553"/>
        <c:crosses val="autoZero"/>
        <c:auto val="1"/>
        <c:lblAlgn val="ctr"/>
        <c:noMultiLvlLbl val="1"/>
      </c:catAx>
      <c:valAx>
        <c:axId val="2094734553"/>
        <c:scaling>
          <c:orientation val="minMax"/>
          <c:max val="0.3"/>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3"/>
        <c:minorUnit val="0.15"/>
      </c:valAx>
      <c:spPr>
        <a:solidFill>
          <a:srgbClr val="FFFFFF"/>
        </a:solidFill>
        <a:ln w="12700" cap="flat">
          <a:noFill/>
          <a:miter lim="400000"/>
        </a:ln>
        <a:effectLst/>
      </c:spPr>
    </c:plotArea>
    <c:legend>
      <c:legendPos val="b"/>
      <c:layout>
        <c:manualLayout>
          <c:xMode val="edge"/>
          <c:yMode val="edge"/>
          <c:x val="0.322039"/>
          <c:y val="0.796603"/>
          <c:w val="0.415216"/>
          <c:h val="0.203397"/>
        </c:manualLayout>
      </c:layout>
      <c:overlay val="1"/>
      <c:spPr>
        <a:noFill/>
        <a:ln w="12700" cap="flat">
          <a:noFill/>
          <a:miter lim="400000"/>
        </a:ln>
        <a:effectLst/>
      </c:spPr>
      <c:txPr>
        <a:bodyPr rot="0"/>
        <a:lstStyle/>
        <a:p>
          <a:pPr>
            <a:defRPr b="0" i="0" strike="noStrike" sz="1500" u="none">
              <a:solidFill>
                <a:srgbClr val="52677D"/>
              </a:solidFill>
              <a:latin typeface="Nimbus Sans"/>
            </a:defRPr>
          </a:pPr>
        </a:p>
      </c:txPr>
    </c:legend>
    <c:plotVisOnly val="1"/>
    <c:dispBlanksAs val="gap"/>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63781"/>
          <c:y val="0.0901458"/>
          <c:w val="0.831219"/>
          <c:h val="0.549497"/>
        </c:manualLayout>
      </c:layout>
      <c:lineChart>
        <c:grouping val="standard"/>
        <c:varyColors val="0"/>
        <c:ser>
          <c:idx val="0"/>
          <c:order val="0"/>
          <c:tx>
            <c:strRef>
              <c:f>Sheet1!$B$1</c:f>
              <c:strCache>
                <c:ptCount val="1"/>
                <c:pt idx="0">
                  <c:v>APD</c:v>
                </c:pt>
              </c:strCache>
            </c:strRef>
          </c:tx>
          <c:spPr>
            <a:solidFill>
              <a:srgbClr val="005DAA"/>
            </a:solidFill>
            <a:ln w="28575" cap="flat">
              <a:solidFill>
                <a:srgbClr val="005DAA"/>
              </a:solidFill>
              <a:prstDash val="solid"/>
              <a:round/>
            </a:ln>
            <a:effectLst/>
          </c:spPr>
          <c:marker>
            <c:symbol val="circle"/>
            <c:size val="5"/>
            <c:spPr>
              <a:solidFill>
                <a:srgbClr val="005DAA"/>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Sheet1!$A$2:$A$4</c:f>
              <c:strCache>
                <c:ptCount val="3"/>
                <c:pt idx="0">
                  <c:v>0</c:v>
                </c:pt>
                <c:pt idx="1">
                  <c:v>1</c:v>
                </c:pt>
                <c:pt idx="2">
                  <c:v>2+</c:v>
                </c:pt>
              </c:strCache>
            </c:strRef>
          </c:cat>
          <c:val>
            <c:numRef>
              <c:f>Sheet1!$B$2:$B$4</c:f>
              <c:numCache>
                <c:ptCount val="3"/>
                <c:pt idx="0">
                  <c:v>0.131119</c:v>
                </c:pt>
                <c:pt idx="1">
                  <c:v>0.164073</c:v>
                </c:pt>
                <c:pt idx="2">
                  <c:v>0.239303</c:v>
                </c:pt>
              </c:numCache>
            </c:numRef>
          </c:val>
          <c:smooth val="0"/>
        </c:ser>
        <c:ser>
          <c:idx val="1"/>
          <c:order val="1"/>
          <c:tx>
            <c:strRef>
              <c:f>Sheet1!$C$1</c:f>
              <c:strCache>
                <c:ptCount val="1"/>
                <c:pt idx="0">
                  <c:v>AL</c:v>
                </c:pt>
              </c:strCache>
            </c:strRef>
          </c:tx>
          <c:spPr>
            <a:solidFill>
              <a:srgbClr val="008B87"/>
            </a:solidFill>
            <a:ln w="28575" cap="flat">
              <a:solidFill>
                <a:srgbClr val="008B87"/>
              </a:solidFill>
              <a:prstDash val="solid"/>
              <a:round/>
            </a:ln>
            <a:effectLst/>
          </c:spPr>
          <c:marker>
            <c:symbol val="circle"/>
            <c:size val="5"/>
            <c:spPr>
              <a:solidFill>
                <a:srgbClr val="008B87"/>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Sheet1!$A$2:$A$4</c:f>
              <c:strCache>
                <c:ptCount val="3"/>
                <c:pt idx="0">
                  <c:v>0</c:v>
                </c:pt>
                <c:pt idx="1">
                  <c:v>1</c:v>
                </c:pt>
                <c:pt idx="2">
                  <c:v>2+</c:v>
                </c:pt>
              </c:strCache>
            </c:strRef>
          </c:cat>
          <c:val>
            <c:numRef>
              <c:f>Sheet1!$C$2:$C$4</c:f>
              <c:numCache>
                <c:ptCount val="3"/>
                <c:pt idx="0">
                  <c:v>0.078247</c:v>
                </c:pt>
                <c:pt idx="1">
                  <c:v>0.118581</c:v>
                </c:pt>
                <c:pt idx="2">
                  <c:v>0.145000</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400" u="none">
                <a:solidFill>
                  <a:srgbClr val="52677D"/>
                </a:solidFill>
                <a:latin typeface="Nimbus Sans"/>
              </a:defRPr>
            </a:pPr>
          </a:p>
        </c:txPr>
        <c:crossAx val="2094734553"/>
        <c:crosses val="autoZero"/>
        <c:auto val="1"/>
        <c:lblAlgn val="ctr"/>
        <c:noMultiLvlLbl val="1"/>
      </c:catAx>
      <c:valAx>
        <c:axId val="2094734553"/>
        <c:scaling>
          <c:orientation val="minMax"/>
          <c:max val="0.3"/>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3"/>
        <c:minorUnit val="0.15"/>
      </c:valAx>
      <c:spPr>
        <a:solidFill>
          <a:srgbClr val="FFFFFF"/>
        </a:solidFill>
        <a:ln w="12700" cap="flat">
          <a:noFill/>
          <a:miter lim="400000"/>
        </a:ln>
        <a:effectLst/>
      </c:spPr>
    </c:plotArea>
    <c:legend>
      <c:legendPos val="b"/>
      <c:layout>
        <c:manualLayout>
          <c:xMode val="edge"/>
          <c:yMode val="edge"/>
          <c:x val="0.322039"/>
          <c:y val="0.796603"/>
          <c:w val="0.415216"/>
          <c:h val="0.203397"/>
        </c:manualLayout>
      </c:layout>
      <c:overlay val="1"/>
      <c:spPr>
        <a:noFill/>
        <a:ln w="12700" cap="flat">
          <a:noFill/>
          <a:miter lim="400000"/>
        </a:ln>
        <a:effectLst/>
      </c:spPr>
      <c:txPr>
        <a:bodyPr rot="0"/>
        <a:lstStyle/>
        <a:p>
          <a:pPr>
            <a:defRPr b="0" i="0" strike="noStrike" sz="1500" u="none">
              <a:solidFill>
                <a:srgbClr val="52677D"/>
              </a:solidFill>
              <a:latin typeface="Nimbus Sans"/>
            </a:defRPr>
          </a:pPr>
        </a:p>
      </c:txPr>
    </c:legend>
    <c:plotVisOnly val="1"/>
    <c:dispBlanksAs val="gap"/>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63781"/>
          <c:y val="0.0901458"/>
          <c:w val="0.831219"/>
          <c:h val="0.549497"/>
        </c:manualLayout>
      </c:layout>
      <c:lineChart>
        <c:grouping val="standard"/>
        <c:varyColors val="0"/>
        <c:ser>
          <c:idx val="0"/>
          <c:order val="0"/>
          <c:tx>
            <c:strRef>
              <c:f>Sheet1!$B$1</c:f>
              <c:strCache>
                <c:ptCount val="1"/>
                <c:pt idx="0">
                  <c:v>APD</c:v>
                </c:pt>
              </c:strCache>
            </c:strRef>
          </c:tx>
          <c:spPr>
            <a:solidFill>
              <a:srgbClr val="005DAA"/>
            </a:solidFill>
            <a:ln w="28575" cap="flat">
              <a:solidFill>
                <a:srgbClr val="005DAA"/>
              </a:solidFill>
              <a:prstDash val="solid"/>
              <a:round/>
            </a:ln>
            <a:effectLst/>
          </c:spPr>
          <c:marker>
            <c:symbol val="circle"/>
            <c:size val="5"/>
            <c:spPr>
              <a:solidFill>
                <a:srgbClr val="005DAA"/>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Sheet1!$A$2:$A$5</c:f>
              <c:strCache>
                <c:ptCount val="4"/>
                <c:pt idx="0">
                  <c:v>0-25</c:v>
                </c:pt>
                <c:pt idx="1">
                  <c:v>25-50</c:v>
                </c:pt>
                <c:pt idx="2">
                  <c:v>50-75</c:v>
                </c:pt>
                <c:pt idx="3">
                  <c:v>75-100</c:v>
                </c:pt>
              </c:strCache>
            </c:strRef>
          </c:cat>
          <c:val>
            <c:numRef>
              <c:f>Sheet1!$B$2:$B$5</c:f>
              <c:numCache>
                <c:ptCount val="4"/>
                <c:pt idx="0">
                  <c:v>0.113882</c:v>
                </c:pt>
                <c:pt idx="1">
                  <c:v>0.130802</c:v>
                </c:pt>
                <c:pt idx="2">
                  <c:v>0.170268</c:v>
                </c:pt>
                <c:pt idx="3">
                  <c:v>0.208026</c:v>
                </c:pt>
              </c:numCache>
            </c:numRef>
          </c:val>
          <c:smooth val="0"/>
        </c:ser>
        <c:ser>
          <c:idx val="1"/>
          <c:order val="1"/>
          <c:tx>
            <c:strRef>
              <c:f>Sheet1!$C$1</c:f>
              <c:strCache>
                <c:ptCount val="1"/>
                <c:pt idx="0">
                  <c:v>AL</c:v>
                </c:pt>
              </c:strCache>
            </c:strRef>
          </c:tx>
          <c:spPr>
            <a:solidFill>
              <a:srgbClr val="008B87"/>
            </a:solidFill>
            <a:ln w="28575" cap="flat">
              <a:solidFill>
                <a:srgbClr val="008B87"/>
              </a:solidFill>
              <a:prstDash val="solid"/>
              <a:round/>
            </a:ln>
            <a:effectLst/>
          </c:spPr>
          <c:marker>
            <c:symbol val="circle"/>
            <c:size val="5"/>
            <c:spPr>
              <a:solidFill>
                <a:srgbClr val="008B87"/>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cat>
            <c:strRef>
              <c:f>Sheet1!$A$2:$A$5</c:f>
              <c:strCache>
                <c:ptCount val="4"/>
                <c:pt idx="0">
                  <c:v>0-25</c:v>
                </c:pt>
                <c:pt idx="1">
                  <c:v>25-50</c:v>
                </c:pt>
                <c:pt idx="2">
                  <c:v>50-75</c:v>
                </c:pt>
                <c:pt idx="3">
                  <c:v>75-100</c:v>
                </c:pt>
              </c:strCache>
            </c:strRef>
          </c:cat>
          <c:val>
            <c:numRef>
              <c:f>Sheet1!$C$2:$C$5</c:f>
              <c:numCache>
                <c:ptCount val="4"/>
                <c:pt idx="0">
                  <c:v>0.059167</c:v>
                </c:pt>
                <c:pt idx="1">
                  <c:v>0.088703</c:v>
                </c:pt>
                <c:pt idx="2">
                  <c:v>0.088364</c:v>
                </c:pt>
                <c:pt idx="3">
                  <c:v>0.115288</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400" u="none">
                <a:solidFill>
                  <a:srgbClr val="52677D"/>
                </a:solidFill>
                <a:latin typeface="Nimbus Sans"/>
              </a:defRPr>
            </a:pPr>
          </a:p>
        </c:txPr>
        <c:crossAx val="2094734553"/>
        <c:crosses val="autoZero"/>
        <c:auto val="1"/>
        <c:lblAlgn val="ctr"/>
        <c:noMultiLvlLbl val="1"/>
      </c:catAx>
      <c:valAx>
        <c:axId val="2094734553"/>
        <c:scaling>
          <c:orientation val="minMax"/>
          <c:max val="0.3"/>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3"/>
        <c:minorUnit val="0.15"/>
      </c:valAx>
      <c:spPr>
        <a:solidFill>
          <a:srgbClr val="FFFFFF"/>
        </a:solidFill>
        <a:ln w="12700" cap="flat">
          <a:noFill/>
          <a:miter lim="400000"/>
        </a:ln>
        <a:effectLst/>
      </c:spPr>
    </c:plotArea>
    <c:legend>
      <c:legendPos val="b"/>
      <c:layout>
        <c:manualLayout>
          <c:xMode val="edge"/>
          <c:yMode val="edge"/>
          <c:x val="0.322039"/>
          <c:y val="0.796603"/>
          <c:w val="0.415216"/>
          <c:h val="0.203397"/>
        </c:manualLayout>
      </c:layout>
      <c:overlay val="1"/>
      <c:spPr>
        <a:noFill/>
        <a:ln w="12700" cap="flat">
          <a:noFill/>
          <a:miter lim="400000"/>
        </a:ln>
        <a:effectLst/>
      </c:spPr>
      <c:txPr>
        <a:bodyPr rot="0"/>
        <a:lstStyle/>
        <a:p>
          <a:pPr>
            <a:defRPr b="0" i="0" strike="noStrike" sz="1500" u="none">
              <a:solidFill>
                <a:srgbClr val="52677D"/>
              </a:solidFill>
              <a:latin typeface="Nimbus Sans"/>
            </a:defRPr>
          </a:pPr>
        </a:p>
      </c:txPr>
    </c:legend>
    <c:plotVisOnly val="1"/>
    <c:dispBlanksAs val="gap"/>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11639"/>
          <c:y val="0.091024"/>
          <c:w val="0.883361"/>
          <c:h val="0.777639"/>
        </c:manualLayout>
      </c:layout>
      <c:barChart>
        <c:barDir val="col"/>
        <c:grouping val="clustered"/>
        <c:varyColors val="0"/>
        <c:ser>
          <c:idx val="0"/>
          <c:order val="0"/>
          <c:tx>
            <c:strRef>
              <c:f>Sheet1!$B$1</c:f>
              <c:strCache>
                <c:ptCount val="1"/>
                <c:pt idx="0">
                  <c:v>Mean driver age</c:v>
                </c:pt>
              </c:strCache>
            </c:strRef>
          </c:tx>
          <c:spPr>
            <a:solidFill>
              <a:srgbClr val="005DAA"/>
            </a:solidFill>
            <a:ln w="12700" cap="flat">
              <a:noFill/>
              <a:miter lim="400000"/>
            </a:ln>
            <a:effectLst/>
          </c:spPr>
          <c:invertIfNegative val="0"/>
          <c:dLbls>
            <c:numFmt formatCode="0.0" sourceLinked="0"/>
            <c:txPr>
              <a:bodyPr/>
              <a:lstStyle/>
              <a:p>
                <a:pPr>
                  <a:defRPr b="1" i="0" strike="noStrike" sz="1800" u="none">
                    <a:solidFill>
                      <a:srgbClr val="142F4D"/>
                    </a:solidFill>
                    <a:latin typeface="Nimbus Sans"/>
                  </a:defRPr>
                </a:pPr>
              </a:p>
            </c:txPr>
            <c:dLblPos val="outEnd"/>
            <c:showLegendKey val="0"/>
            <c:showVal val="1"/>
            <c:showCatName val="0"/>
            <c:showSerName val="0"/>
            <c:showPercent val="0"/>
            <c:showBubbleSize val="0"/>
            <c:showLeaderLines val="0"/>
          </c:dLbls>
          <c:cat>
            <c:strRef>
              <c:f>Sheet1!$A$2:$A$3</c:f>
              <c:strCache>
                <c:ptCount val="2"/>
                <c:pt idx="0">
                  <c:v>History</c:v>
                </c:pt>
                <c:pt idx="1">
                  <c:v>Scoring</c:v>
                </c:pt>
              </c:strCache>
            </c:strRef>
          </c:cat>
          <c:val>
            <c:numRef>
              <c:f>Sheet1!$B$2:$B$3</c:f>
              <c:numCache>
                <c:ptCount val="2"/>
                <c:pt idx="0">
                  <c:v>42.104357</c:v>
                </c:pt>
                <c:pt idx="1">
                  <c:v>39.219549</c:v>
                </c:pt>
              </c:numCache>
            </c:numRef>
          </c:val>
        </c:ser>
        <c:gapWidth val="11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500" u="none">
                <a:solidFill>
                  <a:srgbClr val="142F4D"/>
                </a:solidFill>
                <a:latin typeface="Nimbus Sans"/>
              </a:defRPr>
            </a:pPr>
          </a:p>
        </c:txPr>
        <c:crossAx val="2094734553"/>
        <c:crosses val="autoZero"/>
        <c:auto val="1"/>
        <c:lblAlgn val="ctr"/>
        <c:noMultiLvlLbl val="1"/>
      </c:catAx>
      <c:valAx>
        <c:axId val="2094734553"/>
        <c:scaling>
          <c:orientation val="minMax"/>
          <c:max val="50"/>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10"/>
        <c:minorUnit val="5"/>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42062"/>
          <c:y val="0.091024"/>
          <c:w val="0.852938"/>
          <c:h val="0.777639"/>
        </c:manualLayout>
      </c:layout>
      <c:barChart>
        <c:barDir val="col"/>
        <c:grouping val="clustered"/>
        <c:varyColors val="0"/>
        <c:ser>
          <c:idx val="0"/>
          <c:order val="0"/>
          <c:tx>
            <c:strRef>
              <c:f>Sheet1!$B$1</c:f>
              <c:strCache>
                <c:ptCount val="1"/>
                <c:pt idx="0">
                  <c:v>Mean fleet mileage (000)</c:v>
                </c:pt>
              </c:strCache>
            </c:strRef>
          </c:tx>
          <c:spPr>
            <a:solidFill>
              <a:srgbClr val="005DAA"/>
            </a:solidFill>
            <a:ln w="12700" cap="flat">
              <a:noFill/>
              <a:miter lim="400000"/>
            </a:ln>
            <a:effectLst/>
          </c:spPr>
          <c:invertIfNegative val="0"/>
          <c:dLbls>
            <c:numFmt formatCode="0" sourceLinked="0"/>
            <c:txPr>
              <a:bodyPr/>
              <a:lstStyle/>
              <a:p>
                <a:pPr>
                  <a:defRPr b="1" i="0" strike="noStrike" sz="1800" u="none">
                    <a:solidFill>
                      <a:srgbClr val="142F4D"/>
                    </a:solidFill>
                    <a:latin typeface="Nimbus Sans"/>
                  </a:defRPr>
                </a:pPr>
              </a:p>
            </c:txPr>
            <c:dLblPos val="outEnd"/>
            <c:showLegendKey val="0"/>
            <c:showVal val="1"/>
            <c:showCatName val="0"/>
            <c:showSerName val="0"/>
            <c:showPercent val="0"/>
            <c:showBubbleSize val="0"/>
            <c:showLeaderLines val="0"/>
          </c:dLbls>
          <c:cat>
            <c:strRef>
              <c:f>Sheet1!$A$2:$A$3</c:f>
              <c:strCache>
                <c:ptCount val="2"/>
                <c:pt idx="0">
                  <c:v>History</c:v>
                </c:pt>
                <c:pt idx="1">
                  <c:v>Scoring</c:v>
                </c:pt>
              </c:strCache>
            </c:strRef>
          </c:cat>
          <c:val>
            <c:numRef>
              <c:f>Sheet1!$B$2:$B$3</c:f>
              <c:numCache>
                <c:ptCount val="2"/>
                <c:pt idx="0">
                  <c:v>203.880518</c:v>
                </c:pt>
                <c:pt idx="1">
                  <c:v>231.513050</c:v>
                </c:pt>
              </c:numCache>
            </c:numRef>
          </c:val>
        </c:ser>
        <c:gapWidth val="11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500" u="none">
                <a:solidFill>
                  <a:srgbClr val="142F4D"/>
                </a:solidFill>
                <a:latin typeface="Nimbus Sans"/>
              </a:defRPr>
            </a:pPr>
          </a:p>
        </c:txPr>
        <c:crossAx val="2094734553"/>
        <c:crosses val="autoZero"/>
        <c:auto val="1"/>
        <c:lblAlgn val="ctr"/>
        <c:noMultiLvlLbl val="1"/>
      </c:catAx>
      <c:valAx>
        <c:axId val="2094734553"/>
        <c:scaling>
          <c:orientation val="minMax"/>
          <c:max val="300"/>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100"/>
        <c:minorUnit val="50"/>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698528"/>
          <c:y val="0.0834299"/>
          <c:w val="0.925147"/>
          <c:h val="0.795148"/>
        </c:manualLayout>
      </c:layout>
      <c:barChart>
        <c:barDir val="col"/>
        <c:grouping val="clustered"/>
        <c:varyColors val="0"/>
        <c:ser>
          <c:idx val="0"/>
          <c:order val="0"/>
          <c:tx>
            <c:strRef>
              <c:f>Sheet1!$B$1</c:f>
              <c:strCache>
                <c:ptCount val="1"/>
                <c:pt idx="0">
                  <c:v>Validation log loss</c:v>
                </c:pt>
              </c:strCache>
            </c:strRef>
          </c:tx>
          <c:spPr>
            <a:solidFill>
              <a:srgbClr val="90A0AE"/>
            </a:solidFill>
            <a:ln w="12700" cap="flat">
              <a:noFill/>
              <a:miter lim="400000"/>
            </a:ln>
            <a:effectLst/>
          </c:spPr>
          <c:invertIfNegative val="0"/>
          <c:dLbls>
            <c:numFmt formatCode="0.00000" sourceLinked="0"/>
            <c:txPr>
              <a:bodyPr/>
              <a:lstStyle/>
              <a:p>
                <a:pPr>
                  <a:defRPr b="1" i="0" strike="noStrike" sz="1800" u="none">
                    <a:solidFill>
                      <a:srgbClr val="142F4D"/>
                    </a:solidFill>
                    <a:latin typeface="Nimbus Sans"/>
                  </a:defRPr>
                </a:pPr>
              </a:p>
            </c:txPr>
            <c:dLblPos val="outEnd"/>
            <c:showLegendKey val="0"/>
            <c:showVal val="1"/>
            <c:showCatName val="0"/>
            <c:showSerName val="0"/>
            <c:showPercent val="0"/>
            <c:showBubbleSize val="0"/>
            <c:showLeaderLines val="0"/>
          </c:dLbls>
          <c:cat>
            <c:strRef>
              <c:f>Sheet1!$A$2:$A$5</c:f>
              <c:strCache>
                <c:ptCount val="4"/>
                <c:pt idx="0">
                  <c:v>Logistic</c:v>
                </c:pt>
                <c:pt idx="1">
                  <c:v>Boosting</c:v>
                </c:pt>
                <c:pt idx="2">
                  <c:v>Poisson</c:v>
                </c:pt>
                <c:pt idx="3">
                  <c:v>Coverage rate</c:v>
                </c:pt>
              </c:strCache>
            </c:strRef>
          </c:cat>
          <c:val>
            <c:numRef>
              <c:f>Sheet1!$B$2:$B$5</c:f>
              <c:numCache>
                <c:ptCount val="4"/>
                <c:pt idx="0">
                  <c:v>0.357573</c:v>
                </c:pt>
                <c:pt idx="1">
                  <c:v>0.357707</c:v>
                </c:pt>
                <c:pt idx="2">
                  <c:v>0.358663</c:v>
                </c:pt>
                <c:pt idx="3">
                  <c:v>0.371614</c:v>
                </c:pt>
              </c:numCache>
            </c:numRef>
          </c:val>
        </c:ser>
        <c:gapWidth val="95"/>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500" u="none">
                <a:solidFill>
                  <a:srgbClr val="142F4D"/>
                </a:solidFill>
                <a:latin typeface="Nimbus Sans"/>
              </a:defRPr>
            </a:pPr>
          </a:p>
        </c:txPr>
        <c:crossAx val="2094734553"/>
        <c:crosses val="autoZero"/>
        <c:auto val="1"/>
        <c:lblAlgn val="ctr"/>
        <c:noMultiLvlLbl val="1"/>
      </c:catAx>
      <c:valAx>
        <c:axId val="2094734553"/>
        <c:scaling>
          <c:orientation val="minMax"/>
          <c:max val="0.38"/>
          <c:min val="0.35"/>
        </c:scaling>
        <c:delete val="0"/>
        <c:axPos val="l"/>
        <c:majorGridlines>
          <c:spPr>
            <a:ln w="12700" cap="flat">
              <a:solidFill>
                <a:srgbClr val="DFE6ED"/>
              </a:solidFill>
              <a:prstDash val="solid"/>
              <a:round/>
            </a:ln>
          </c:spPr>
        </c:majorGridlines>
        <c:numFmt formatCode="0.0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03"/>
        <c:minorUnit val="0.015"/>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23414"/>
          <c:y val="0.0746979"/>
          <c:w val="0.734528"/>
          <c:h val="0.494201"/>
        </c:manualLayout>
      </c:layout>
      <c:scatterChart>
        <c:scatterStyle val="lineMarker"/>
        <c:varyColors val="0"/>
        <c:ser>
          <c:idx val="0"/>
          <c:order val="0"/>
          <c:tx>
            <c:strRef>
              <c:f>Sheet1!$B$1</c:f>
              <c:strCache>
                <c:ptCount val="1"/>
                <c:pt idx="0">
                  <c:v>Observed groups</c:v>
                </c:pt>
              </c:strCache>
            </c:strRef>
          </c:tx>
          <c:spPr>
            <a:solidFill>
              <a:srgbClr val="005DAA"/>
            </a:solidFill>
            <a:ln w="28575" cap="flat">
              <a:solidFill>
                <a:srgbClr val="005DAA"/>
              </a:solidFill>
              <a:prstDash val="solid"/>
              <a:round/>
            </a:ln>
            <a:effectLst/>
          </c:spPr>
          <c:marker>
            <c:symbol val="circle"/>
            <c:size val="6"/>
            <c:spPr>
              <a:solidFill>
                <a:srgbClr val="005DAA"/>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xVal>
            <c:numRef>
              <c:f>Sheet1!$B$2:$B$7</c:f>
              <c:numCache>
                <c:ptCount val="6"/>
                <c:pt idx="0">
                  <c:v>0.046233</c:v>
                </c:pt>
                <c:pt idx="1">
                  <c:v>0.073222</c:v>
                </c:pt>
                <c:pt idx="2">
                  <c:v>0.095105</c:v>
                </c:pt>
                <c:pt idx="3">
                  <c:v>0.119964</c:v>
                </c:pt>
                <c:pt idx="4">
                  <c:v>0.154467</c:v>
                </c:pt>
                <c:pt idx="5">
                  <c:v>0.239824</c:v>
                </c:pt>
              </c:numCache>
            </c:numRef>
          </c:xVal>
          <c:yVal>
            <c:numRef>
              <c:f>Sheet1!$C$2:$C$7</c:f>
              <c:numCache>
                <c:ptCount val="6"/>
                <c:pt idx="0">
                  <c:v>0.037440</c:v>
                </c:pt>
                <c:pt idx="1">
                  <c:v>0.080918</c:v>
                </c:pt>
                <c:pt idx="2">
                  <c:v>0.095411</c:v>
                </c:pt>
                <c:pt idx="3">
                  <c:v>0.137848</c:v>
                </c:pt>
                <c:pt idx="4">
                  <c:v>0.159420</c:v>
                </c:pt>
                <c:pt idx="5">
                  <c:v>0.246377</c:v>
                </c:pt>
              </c:numCache>
            </c:numRef>
          </c:yVal>
          <c:smooth val="0"/>
        </c:ser>
        <c:ser>
          <c:idx val="1"/>
          <c:order val="1"/>
          <c:tx>
            <c:strRef>
              <c:f>Sheet1!$C$1</c:f>
              <c:strCache>
                <c:ptCount val="1"/>
                <c:pt idx="0">
                  <c:v>Perfect agreement</c:v>
                </c:pt>
              </c:strCache>
            </c:strRef>
          </c:tx>
          <c:spPr>
            <a:noFill/>
            <a:ln w="14288" cap="flat">
              <a:solidFill>
                <a:srgbClr val="90A0AE"/>
              </a:solidFill>
              <a:prstDash val="solid"/>
              <a:round/>
            </a:ln>
            <a:effectLst/>
          </c:spPr>
          <c:marker>
            <c:symbol val="none"/>
            <c:size val="3"/>
            <c:spPr>
              <a:noFill/>
              <a:ln w="14288" cap="flat">
                <a:solidFill>
                  <a:srgbClr val="90A0AE"/>
                </a:solidFill>
                <a:prstDash val="solid"/>
                <a:round/>
              </a:ln>
              <a:effectLst/>
            </c:spPr>
          </c:marker>
          <c:dLbls>
            <c:numFmt formatCode="0.#" sourceLinked="0"/>
            <c:txPr>
              <a:bodyPr/>
              <a:lstStyle/>
              <a:p>
                <a:pPr>
                  <a:defRPr b="0" i="0" strike="noStrike" sz="1000" u="none">
                    <a:solidFill>
                      <a:srgbClr val="000000"/>
                    </a:solidFill>
                    <a:latin typeface="Nimbus Sans"/>
                  </a:defRPr>
                </a:pPr>
              </a:p>
            </c:txPr>
            <c:dLblPos val="t"/>
            <c:showLegendKey val="0"/>
            <c:showVal val="0"/>
            <c:showCatName val="0"/>
            <c:showSerName val="0"/>
            <c:showPercent val="0"/>
            <c:showBubbleSize val="0"/>
            <c:showLeaderLines val="0"/>
          </c:dLbls>
          <c:xVal>
            <c:numRef>
              <c:f>Sheet1!$D$2:$D$7</c:f>
              <c:numCache>
                <c:ptCount val="2"/>
                <c:pt idx="0">
                  <c:v>0.000000</c:v>
                </c:pt>
                <c:pt idx="1">
                  <c:v>0.300000</c:v>
                </c:pt>
              </c:numCache>
            </c:numRef>
          </c:xVal>
          <c:yVal>
            <c:numRef>
              <c:f>Sheet1!$E$2:$E$7</c:f>
              <c:numCache>
                <c:ptCount val="2"/>
                <c:pt idx="0">
                  <c:v>0.000000</c:v>
                </c:pt>
                <c:pt idx="1">
                  <c:v>0.300000</c:v>
                </c:pt>
              </c:numCache>
            </c:numRef>
          </c:yVal>
          <c:smooth val="0"/>
        </c:ser>
        <c:axId val="2094734552"/>
        <c:axId val="2094734553"/>
      </c:scatterChart>
      <c:valAx>
        <c:axId val="2094734552"/>
        <c:scaling>
          <c:orientation val="minMax"/>
          <c:max val="0.3"/>
          <c:min val="0"/>
        </c:scaling>
        <c:delete val="0"/>
        <c:axPos val="b"/>
        <c:majorGridlines>
          <c:spPr>
            <a:ln w="12700" cap="flat">
              <a:solidFill>
                <a:srgbClr val="DFE6ED"/>
              </a:solidFill>
              <a:prstDash val="solid"/>
              <a:round/>
            </a:ln>
          </c:spPr>
        </c:majorGridlines>
        <c:title>
          <c:tx>
            <c:rich>
              <a:bodyPr rot="0"/>
              <a:lstStyle/>
              <a:p>
                <a:pPr>
                  <a:defRPr b="1" i="0" strike="noStrike" sz="1500" u="none">
                    <a:solidFill>
                      <a:srgbClr val="52677D"/>
                    </a:solidFill>
                    <a:latin typeface="Nimbus Sans"/>
                  </a:defRPr>
                </a:pPr>
                <a:r>
                  <a:rPr b="1" i="0" strike="noStrike" sz="1500" u="none">
                    <a:solidFill>
                      <a:srgbClr val="52677D"/>
                    </a:solidFill>
                    <a:latin typeface="Nimbus Sans"/>
                  </a:rPr>
                  <a:t>Mean predicted probability</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3"/>
        <c:crosses val="autoZero"/>
        <c:crossBetween val="between"/>
        <c:majorUnit val="0.3"/>
        <c:minorUnit val="0.15"/>
      </c:valAx>
      <c:valAx>
        <c:axId val="2094734553"/>
        <c:scaling>
          <c:orientation val="minMax"/>
          <c:max val="0.3"/>
          <c:min val="0"/>
        </c:scaling>
        <c:delete val="0"/>
        <c:axPos val="l"/>
        <c:majorGridlines>
          <c:spPr>
            <a:ln w="12700" cap="flat">
              <a:solidFill>
                <a:srgbClr val="DFE6ED"/>
              </a:solidFill>
              <a:prstDash val="solid"/>
              <a:round/>
            </a:ln>
          </c:spPr>
        </c:majorGridlines>
        <c:title>
          <c:tx>
            <c:rich>
              <a:bodyPr rot="-5400000"/>
              <a:lstStyle/>
              <a:p>
                <a:pPr>
                  <a:defRPr b="1" i="0" strike="noStrike" sz="1400" u="none">
                    <a:solidFill>
                      <a:srgbClr val="52677D"/>
                    </a:solidFill>
                    <a:latin typeface="Nimbus Sans"/>
                  </a:defRPr>
                </a:pPr>
                <a:r>
                  <a:rPr b="1" i="0" strike="noStrike" sz="1400" u="none">
                    <a:solidFill>
                      <a:srgbClr val="52677D"/>
                    </a:solidFill>
                    <a:latin typeface="Nimbus Sans"/>
                  </a:rPr>
                  <a:t>Observed claim rate</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3"/>
        <c:minorUnit val="0.15"/>
      </c:valAx>
      <c:spPr>
        <a:solidFill>
          <a:srgbClr val="FFFFFF"/>
        </a:solidFill>
        <a:ln w="12700" cap="flat">
          <a:noFill/>
          <a:miter lim="400000"/>
        </a:ln>
        <a:effectLst/>
      </c:spPr>
    </c:plotArea>
    <c:legend>
      <c:legendPos val="b"/>
      <c:layout>
        <c:manualLayout>
          <c:xMode val="edge"/>
          <c:yMode val="edge"/>
          <c:x val="0.0928949"/>
          <c:y val="0.829316"/>
          <c:w val="0.774775"/>
          <c:h val="0.170684"/>
        </c:manualLayout>
      </c:layout>
      <c:overlay val="1"/>
      <c:spPr>
        <a:noFill/>
        <a:ln w="12700" cap="flat">
          <a:noFill/>
          <a:miter lim="400000"/>
        </a:ln>
        <a:effectLst/>
      </c:spPr>
      <c:txPr>
        <a:bodyPr rot="0"/>
        <a:lstStyle/>
        <a:p>
          <a:pPr>
            <a:defRPr b="0" i="0" strike="noStrike" sz="1500" u="none">
              <a:solidFill>
                <a:srgbClr val="52677D"/>
              </a:solidFill>
              <a:latin typeface="Nimbus Sans"/>
            </a:defRPr>
          </a:pPr>
        </a:p>
      </c:txPr>
    </c:legend>
    <c:plotVisOnly val="1"/>
    <c:dispBlanksAs val="gap"/>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51668"/>
          <c:y val="0.0957447"/>
          <c:w val="0.843332"/>
          <c:h val="0.766755"/>
        </c:manualLayout>
      </c:layout>
      <c:barChart>
        <c:barDir val="col"/>
        <c:grouping val="clustered"/>
        <c:varyColors val="0"/>
        <c:ser>
          <c:idx val="0"/>
          <c:order val="0"/>
          <c:tx>
            <c:strRef>
              <c:f>Sheet1!$B$1</c:f>
              <c:strCache>
                <c:ptCount val="1"/>
                <c:pt idx="0">
                  <c:v>Mean scoring probability</c:v>
                </c:pt>
              </c:strCache>
            </c:strRef>
          </c:tx>
          <c:spPr>
            <a:solidFill>
              <a:srgbClr val="005DAA"/>
            </a:solidFill>
            <a:ln w="12700" cap="flat">
              <a:noFill/>
              <a:miter lim="400000"/>
            </a:ln>
            <a:effectLst/>
          </c:spPr>
          <c:invertIfNegative val="0"/>
          <c:dLbls>
            <c:numFmt formatCode="0.0%" sourceLinked="0"/>
            <c:txPr>
              <a:bodyPr/>
              <a:lstStyle/>
              <a:p>
                <a:pPr>
                  <a:defRPr b="1" i="0" strike="noStrike" sz="1900" u="none">
                    <a:solidFill>
                      <a:srgbClr val="142F4D"/>
                    </a:solidFill>
                    <a:latin typeface="Nimbus Sans"/>
                  </a:defRPr>
                </a:pPr>
              </a:p>
            </c:txPr>
            <c:dLblPos val="outEnd"/>
            <c:showLegendKey val="0"/>
            <c:showVal val="1"/>
            <c:showCatName val="0"/>
            <c:showSerName val="0"/>
            <c:showPercent val="0"/>
            <c:showBubbleSize val="0"/>
            <c:showLeaderLines val="0"/>
          </c:dLbls>
          <c:cat>
            <c:strRef>
              <c:f>Sheet1!$A$2:$A$3</c:f>
              <c:strCache>
                <c:ptCount val="2"/>
                <c:pt idx="0">
                  <c:v>APD</c:v>
                </c:pt>
                <c:pt idx="1">
                  <c:v>AL</c:v>
                </c:pt>
              </c:strCache>
            </c:strRef>
          </c:cat>
          <c:val>
            <c:numRef>
              <c:f>Sheet1!$B$2:$B$3</c:f>
              <c:numCache>
                <c:ptCount val="2"/>
                <c:pt idx="0">
                  <c:v>0.162359</c:v>
                </c:pt>
                <c:pt idx="1">
                  <c:v>0.094854</c:v>
                </c:pt>
              </c:numCache>
            </c:numRef>
          </c:val>
        </c:ser>
        <c:gapWidth val="100"/>
        <c:overlap val="0"/>
        <c:axId val="2094734552"/>
        <c:axId val="2094734553"/>
      </c:barChart>
      <c:catAx>
        <c:axId val="2094734552"/>
        <c:scaling>
          <c:orientation val="minMax"/>
        </c:scaling>
        <c:delete val="0"/>
        <c:axPos val="b"/>
        <c:numFmt formatCode="General" sourceLinked="0"/>
        <c:majorTickMark val="none"/>
        <c:minorTickMark val="none"/>
        <c:tickLblPos val="low"/>
        <c:spPr>
          <a:ln w="12700" cap="flat">
            <a:noFill/>
            <a:prstDash val="solid"/>
            <a:round/>
          </a:ln>
        </c:spPr>
        <c:txPr>
          <a:bodyPr rot="0"/>
          <a:lstStyle/>
          <a:p>
            <a:pPr>
              <a:defRPr b="0" i="0" strike="noStrike" sz="1500" u="none">
                <a:solidFill>
                  <a:srgbClr val="142F4D"/>
                </a:solidFill>
                <a:latin typeface="Nimbus Sans"/>
              </a:defRPr>
            </a:pPr>
          </a:p>
        </c:txPr>
        <c:crossAx val="2094734553"/>
        <c:crosses val="autoZero"/>
        <c:auto val="1"/>
        <c:lblAlgn val="ctr"/>
        <c:noMultiLvlLbl val="1"/>
      </c:catAx>
      <c:valAx>
        <c:axId val="2094734553"/>
        <c:scaling>
          <c:orientation val="minMax"/>
          <c:max val="0.2"/>
          <c:min val="0"/>
        </c:scaling>
        <c:delete val="0"/>
        <c:axPos val="l"/>
        <c:majorGridlines>
          <c:spPr>
            <a:ln w="12700" cap="flat">
              <a:solidFill>
                <a:srgbClr val="DFE6ED"/>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400" u="none">
                <a:solidFill>
                  <a:srgbClr val="52677D"/>
                </a:solidFill>
                <a:latin typeface="Nimbus Sans"/>
              </a:defRPr>
            </a:pPr>
          </a:p>
        </c:txPr>
        <c:crossAx val="2094734552"/>
        <c:crosses val="autoZero"/>
        <c:crossBetween val="between"/>
        <c:majorUnit val="0.2"/>
        <c:minorUnit val="0.1"/>
      </c:valAx>
      <c:spPr>
        <a:solidFill>
          <a:srgbClr val="FFFFFF"/>
        </a:solidFill>
        <a:ln w="12700" cap="flat">
          <a:noFill/>
          <a:miter lim="400000"/>
        </a:ln>
        <a:effectLst/>
      </c:spPr>
    </c:plotArea>
    <c:plotVisOnly val="1"/>
    <c:dispBlanksAs val="gap"/>
  </c:chart>
  <c:spPr>
    <a:solidFill>
      <a:srgbClr val="FFFFFF"/>
    </a:solid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2" name="Shape 62"/>
          <p:cNvSpPr/>
          <p:nvPr>
            <p:ph type="sldImg"/>
          </p:nvPr>
        </p:nvSpPr>
        <p:spPr>
          <a:xfrm>
            <a:off x="1143000" y="685800"/>
            <a:ext cx="4572000" cy="3429000"/>
          </a:xfrm>
          <a:prstGeom prst="rect">
            <a:avLst/>
          </a:prstGeom>
        </p:spPr>
        <p:txBody>
          <a:bodyPr/>
          <a:lstStyle/>
          <a:p>
            <a:pPr/>
          </a:p>
        </p:txBody>
      </p:sp>
      <p:sp>
        <p:nvSpPr>
          <p:cNvPr id="63" name="Shape 6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71"/>
          <p:cNvSpPr/>
          <p:nvPr>
            <p:ph type="sldImg"/>
          </p:nvPr>
        </p:nvSpPr>
        <p:spPr>
          <a:prstGeom prst="rect">
            <a:avLst/>
          </a:prstGeom>
        </p:spPr>
        <p:txBody>
          <a:bodyPr/>
          <a:lstStyle/>
          <a:p>
            <a:pPr/>
          </a:p>
        </p:txBody>
      </p:sp>
      <p:sp>
        <p:nvSpPr>
          <p:cNvPr id="72" name="Shape 72"/>
          <p:cNvSpPr/>
          <p:nvPr>
            <p:ph type="body" sz="quarter" idx="1"/>
          </p:nvPr>
        </p:nvSpPr>
        <p:spPr>
          <a:prstGeom prst="rect">
            <a:avLst/>
          </a:prstGeom>
        </p:spPr>
        <p:txBody>
          <a:bodyPr/>
          <a:lstStyle/>
          <a:p>
            <a:pPr/>
            <a:r>
              <a:t>The goal is to estimate P(claim_count &gt; 0) during the supplied policy period for each coverage line. Auto Physical Damage (APD) covers damage to the insured vehicle. Auto Liability (AL) covers liability for third-party injury or property damage. The deliverable is a probability for every policy_id in score.csv, rather than a classification decision or an expected loss amount.</a:t>
            </a:r>
          </a:p>
          <a:p>
            <a:pPr/>
          </a:p>
          <a:p>
            <a:pPr/>
            <a:r>
              <a:t>This implementation fits one pooled pipeline to both coverages. Coverage type and two AL interactions allow different risk relationships within that shared model. It does not fit separate APD and AL models.</a:t>
            </a:r>
          </a:p>
          <a:p>
            <a:pPr/>
          </a:p>
          <a:p>
            <a:pPr/>
            <a:r>
              <a:t>The assignment asks for exploratory data analysis, impactful improvements to modeling methodology, impactful production-readiness improvements, a future deployment roadmap, and an English technical presentation covering findings, improvements, learned concepts and AI use. Required outputs include a runnable end-to-end Python solution, a README, predictions.csv and the presentation. The visible requirement list is drawn from Data Scientist Applied AI ML - Case Study.docx. The notebook contains the complete implementation and supporting diagnostics.</a:t>
            </a:r>
          </a:p>
          <a:p>
            <a:pPr/>
          </a:p>
          <a:p>
            <a:pPr/>
            <a:r>
              <a:t>Sources: https://github.com/heddence/commercial_auto_risk_scoring/blob/fe48fd76cd04330c8119546de28b982b36b74612/README.md</a:t>
            </a:r>
          </a:p>
          <a:p>
            <a:pPr/>
            <a:r>
              <a:t>https://github.com/heddence/commercial_auto_risk_scoring/blob/fe48fd76cd04330c8119546de28b982b36b74612/risk_scorer.ipynb</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Shape 96"/>
          <p:cNvSpPr/>
          <p:nvPr>
            <p:ph type="sldImg"/>
          </p:nvPr>
        </p:nvSpPr>
        <p:spPr>
          <a:prstGeom prst="rect">
            <a:avLst/>
          </a:prstGeom>
        </p:spPr>
        <p:txBody>
          <a:bodyPr/>
          <a:lstStyle/>
          <a:p>
            <a:pPr/>
          </a:p>
        </p:txBody>
      </p:sp>
      <p:sp>
        <p:nvSpPr>
          <p:cNvPr id="97" name="Shape 97"/>
          <p:cNvSpPr/>
          <p:nvPr>
            <p:ph type="body" sz="quarter" idx="1"/>
          </p:nvPr>
        </p:nvSpPr>
        <p:spPr>
          <a:prstGeom prst="rect">
            <a:avLst/>
          </a:prstGeom>
        </p:spPr>
        <p:txBody>
          <a:bodyPr/>
          <a:lstStyle/>
          <a:p>
            <a:pPr/>
            <a:r>
              <a:t>Raw train.csv has 15,075 rows and 31 columns. Raw score.csv has 3,000 rows and 28 columns. These are capture-year cohorts, not necessarily policy-inception or policy-expiration cohorts. A row is a coverage line, so a single company can contribute several rows. There are 3,702 companies in retained history and 739 in scoring. All retained supplied terms are 365 days.</a:t>
            </a:r>
          </a:p>
          <a:p>
            <a:pPr/>
          </a:p>
          <a:p>
            <a:pPr/>
            <a:r>
              <a:t>The slide groups fields and shows representative names. The complete raw historical schema is:</a:t>
            </a:r>
          </a:p>
          <a:p>
            <a:pPr/>
            <a:r>
              <a:t>policy_id, insured_id, snapshot_date, policy_effective_date, policy_expiration_date, coverage_type, vehicle_count, vehicle_avg_age, driver_count, driver_avg_age, years_in_business, prior_year_mileage_000, business_type, state, prior_apd_claim_count, prior_al_claim_count, prior_loss_amount, deductible, coverage_limit_000, annual_premium, payment_frequency, risk_score_external, has_safety_program, num_heavy_vehicles, late_payment_count, claim_count, total_loss_amount, first_claim_reported_date, claim_paid_amount_current_period, claim_status_current_period, days_to_first_claim_report.</a:t>
            </a:r>
          </a:p>
          <a:p>
            <a:pPr/>
          </a:p>
          <a:p>
            <a:pPr/>
            <a:r>
              <a:t>Scoring lacks claim_count, total_loss_amount, and has_safety_program. Current-claim fields still appear in scoring but contain placeholders, so their presence does not make them valid underwriting predictors. The safety-program field is excluded because the scoring workflow cannot depend on an absent input. Identifiers establish row identity and company groups. Dates define cleaning and evaluation cohorts rather than entering the predictor matrix.</a:t>
            </a:r>
          </a:p>
          <a:p>
            <a:pPr/>
          </a:p>
          <a:p>
            <a:pPr/>
            <a:r>
              <a:t>The modeling input is a fixed allowlist of 18 raw fields, discussed on slide 6. Do not describe every one of the 31 raw fields as an eligible predictor.</a:t>
            </a:r>
          </a:p>
          <a:p>
            <a:pPr/>
          </a:p>
          <a:p>
            <a:pPr/>
            <a:r>
              <a:t>Sources: https://github.com/heddence/commercial_auto_risk_scoring/blob/fe48fd76cd04330c8119546de28b982b36b74612/data/train.csv</a:t>
            </a:r>
          </a:p>
          <a:p>
            <a:pPr/>
            <a:r>
              <a:t>https://github.com/heddence/commercial_auto_risk_scoring/blob/fe48fd76cd04330c8119546de28b982b36b74612/data/score.csv</a:t>
            </a:r>
          </a:p>
          <a:p>
            <a:pPr/>
            <a:r>
              <a:t>https://github.com/heddence/commercial_auto_risk_scoring/blob/fe48fd76cd04330c8119546de28b982b36b74612/data/data_dictionary.md</a:t>
            </a:r>
          </a:p>
          <a:p>
            <a:pPr/>
            <a:r>
              <a:t>https://github.com/heddence/commercial_auto_risk_scoring/blob/fe48fd76cd04330c8119546de28b982b36b74612/risk_scorer.ipynb</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hape 118"/>
          <p:cNvSpPr/>
          <p:nvPr>
            <p:ph type="sldImg"/>
          </p:nvPr>
        </p:nvSpPr>
        <p:spPr>
          <a:prstGeom prst="rect">
            <a:avLst/>
          </a:prstGeom>
        </p:spPr>
        <p:txBody>
          <a:bodyPr/>
          <a:lstStyle/>
          <a:p>
            <a:pPr/>
          </a:p>
        </p:txBody>
      </p:sp>
      <p:sp>
        <p:nvSpPr>
          <p:cNvPr id="119" name="Shape 119"/>
          <p:cNvSpPr/>
          <p:nvPr>
            <p:ph type="body" sz="quarter" idx="1"/>
          </p:nvPr>
        </p:nvSpPr>
        <p:spPr>
          <a:prstGeom prst="rect">
            <a:avLst/>
          </a:prstGeom>
        </p:spPr>
        <p:txBody>
          <a:bodyPr/>
          <a:lstStyle/>
          <a:p>
            <a:pPr/>
            <a:r>
              <a:t>The preparation function uses fixed field-definition rules, which do not estimate anything from evaluation outcomes. Categories are stripped and normalized before deduplication. This removes 75 repeated historical copies. Remaining conflicting policy_id values cause a failure rather than an arbitrary selection. Scoring identifiers must already be unique.</a:t>
            </a:r>
          </a:p>
          <a:p>
            <a:pPr/>
          </a:p>
          <a:p>
            <a:pPr/>
            <a:r>
              <a:t>Dates are parsed strictly. Ten historical rows have expiration on or before inception and are excluded with an audit report. For scoring, such an interval raises an error instead of silently dropping a required prediction. Row accounting is 15,075 - 75 - 10 = 14,990.</a:t>
            </a:r>
          </a:p>
          <a:p>
            <a:pPr/>
          </a:p>
          <a:p>
            <a:pPr/>
            <a:r>
              <a:t>Numeric validation checks finite values, nonnegative values, whole numbers for count fields, external score in [0,100], and permitted deductibles. Five negative premiums become unknown. In three rows, heavy vehicles exceed total fleet size, so both relevant counts become missing because the code cannot determine which count is wrong. These rows stay eligible. Two zero-fleet historical rows also stay because the dictionary does not expressly forbid zero. Ratio features divide only by positive fleet counts, producing missing values rather than infinity.</a:t>
            </a:r>
          </a:p>
          <a:p>
            <a:pPr/>
          </a:p>
          <a:p>
            <a:pPr/>
            <a:r>
              <a:t>Existing missing values are preserved here. Training medians, indicators and encoding are learned later within each fit.</a:t>
            </a:r>
          </a:p>
          <a:p>
            <a:pPr/>
          </a:p>
          <a:p>
            <a:pPr/>
            <a:r>
              <a:t>Sources: https://github.com/heddence/commercial_auto_risk_scoring/blob/fe48fd76cd04330c8119546de28b982b36b74612/risk_scoring.py</a:t>
            </a:r>
          </a:p>
          <a:p>
            <a:pPr/>
            <a:r>
              <a:t>https://github.com/heddence/commercial_auto_risk_scoring/blob/fe48fd76cd04330c8119546de28b982b36b74612/risk_scorer.ipynb</a:t>
            </a:r>
          </a:p>
          <a:p>
            <a:pPr/>
            <a:r>
              <a:t>https://github.com/heddence/commercial_auto_risk_scoring/blob/fe48fd76cd04330c8119546de28b982b36b74612/reports/excluded_training_rows.csv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In all 14,990 retained historical lines, 1,853 have at least one claim, giving 12.36%. APD has 1,171 positives among 7,494 lines (15.63%). AL has 682 among 7,496 (9.10%). The coverage difference is a reason to include coverage type and to compare against a coverage-rate baseline, not evidence that two independently fitted models are necessary.</a:t>
            </a:r>
          </a:p>
          <a:p>
            <a:pPr/>
          </a:p>
          <a:p>
            <a:pPr/>
            <a:r>
              <a:t>Outcome-based exploration uses only the 10,023 development rows captured in 2020-2021. The notebook bins fleet size into 0-5, 6-10 and 11+ vehicles. It selects prior APD counts for APD rows and prior AL counts for AL rows, then groups them as 0, 1 and 2+. External risk uses score bands 0-25, 25-50, 50-75 and 75-100. Each chart reports observed binary occurrence by coverage.</a:t>
            </a:r>
          </a:p>
          <a:p>
            <a:pPr/>
          </a:p>
          <a:p>
            <a:pPr/>
            <a:r>
              <a:t>Larger fleets have more opportunities for at least one claim. Relevant prior claims and higher external score also associate with occurrence, though the AL score pattern is not strictly monotone in every band. These are descriptive associations, not causal effects. The patterns motivate derived features and flexible challengers. Bins lose detail and do not show statistical uncertainty. They are exploratory summaries rather than model rules.</a:t>
            </a:r>
          </a:p>
          <a:p>
            <a:pPr/>
          </a:p>
          <a:p>
            <a:pPr/>
            <a:r>
              <a:t>Sources: https://github.com/heddence/commercial_auto_risk_scoring/blob/fe48fd76cd04330c8119546de28b982b36b74612/risk_scorer.ipynb</a:t>
            </a:r>
          </a:p>
          <a:p>
            <a:pPr/>
            <a:r>
              <a:t>https://github.com/heddence/commercial_auto_risk_scoring/blob/fe48fd76cd04330c8119546de28b982b36b74612/data/train.csv</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Snapshot_date records capture timing. It defines the supplied file-year cohorts but does not prove that the recorded label or every feature was available at that point in time. All positive first-claim report dates occur after their snapshots. In particular, 79 positive development rows have first reports on or after 2022-01-01. Their outcomes could not all have been observed during the nominal 2020-2021 fit period. Therefore the reported evaluation is a retrospective capture-cohort assessment, not a verified as-of deployment backtest. We need to establish the scoring moment and observation/maturity process before production claims. Policy expiration alone is not a documented label-availability rule.</a:t>
            </a:r>
          </a:p>
          <a:p>
            <a:pPr/>
          </a:p>
          <a:p>
            <a:pPr/>
            <a:r>
              <a:t>The scoring population also changes: mean driver age is 39.22 versus 42.10 years in retained history. Mean stated annual fleet mileage is 231.51 versus 203.88 thousand miles. Rideshare is new and appears in 60 of 3,000 rows (2%). Of 739 scoring companies, 733 occur in retained history.</a:t>
            </a:r>
          </a:p>
          <a:p>
            <a:pPr/>
          </a:p>
          <a:p>
            <a:pPr/>
            <a:r>
              <a:t>The selected one-hot encoder accepts unknown categories without failing. For a new business category, the business dummy block is all zeros, so it has no learned rideshare-specific effect. Technical acceptance of a category is different from demonstrated predictive validity for it. These shifts belong in shadow-scoring reviews and monitoring.</a:t>
            </a:r>
          </a:p>
          <a:p>
            <a:pPr/>
          </a:p>
          <a:p>
            <a:pPr/>
            <a:r>
              <a:t>Sources: https://github.com/heddence/commercial_auto_risk_scoring/blob/fe48fd76cd04330c8119546de28b982b36b74612/risk_scorer.ipynb</a:t>
            </a:r>
          </a:p>
          <a:p>
            <a:pPr/>
            <a:r>
              <a:t>https://github.com/heddence/commercial_auto_risk_scoring/blob/fe48fd76cd04330c8119546de28b982b36b74612/reports/scoring_quality.json</a:t>
            </a:r>
          </a:p>
          <a:p>
            <a:pPr/>
            <a:r>
              <a:t>https://github.com/heddence/commercial_auto_risk_scoring/blob/fe48fd76cd04330c8119546de28b982b36b74612/data/train.csv</a:t>
            </a:r>
          </a:p>
          <a:p>
            <a:pPr/>
            <a:r>
              <a:t>https://github.com/heddence/commercial_auto_risk_scoring/blob/fe48fd76cd04330c8119546de28b982b36b74612/data/score.csv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The binary target is had_claim = int(claim_count &gt; 0). This estimates occurrence during the policy period, not claim count, claim severity, expected total loss or the probability of an incident in a fixed future interval after capture. The selected logistic model is trained on this binary target.</a:t>
            </a:r>
          </a:p>
          <a:p>
            <a:pPr/>
          </a:p>
          <a:p>
            <a:pPr/>
            <a:r>
              <a:t>The 18 raw predictors consist of 14 numeric fields: vehicle_count, vehicle_avg_age, driver_count, driver_avg_age, years_in_business, prior_year_mileage_000, prior_apd_claim_count, prior_al_claim_count, prior_loss_amount, deductible, coverage_limit_000, annual_premium, risk_score_external, num_heavy_vehicles. Four categorical fields are coverage_type, business_type, state and payment_frequency.</a:t>
            </a:r>
          </a:p>
          <a:p>
            <a:pPr/>
          </a:p>
          <a:p>
            <a:pPr/>
            <a:r>
              <a:t>The seven deterministic derived features are prior_claims_same_coverage, log_prior_loss, log_mileage_per_vehicle, heavy_vehicle_share, drivers_per_vehicle, al_vehicle_count and al_external_risk. Logs reduce skew. Ratios express fleet composition/intensity. AL interactions allow a shared linear model to fit different slopes for fleet count and external score in liability.</a:t>
            </a:r>
          </a:p>
          <a:p>
            <a:pPr/>
          </a:p>
          <a:p>
            <a:pPr/>
            <a:r>
              <a:t>Numeric medians, missingness indicators, categorical encoding and StandardScaler are fitted only on each training partition. The selected fitted representation has 58 columns. Current-period dates, payments, status and delays reveal the outcome. Late payments lack a confirmed underwriting-time interpretation. The unavailable safety field, IDs and dates stay outside the allowlist. Annual premium remains in the selected model, but its scoring-time availability must be confirmed.</a:t>
            </a:r>
          </a:p>
          <a:p>
            <a:pPr/>
          </a:p>
          <a:p>
            <a:pPr/>
            <a:r>
              <a:t>Sources: https://github.com/heddence/commercial_auto_risk_scoring/blob/fe48fd76cd04330c8119546de28b982b36b74612/risk_scoring.py</a:t>
            </a:r>
          </a:p>
          <a:p>
            <a:pPr/>
            <a:r>
              <a:t>https://github.com/heddence/commercial_auto_risk_scoring/blob/fe48fd76cd04330c8119546de28b982b36b74612/risk_scorer.ipynb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Model selection uses two expanding windows defined by snapshot_date. Window 1 fits snapshots before 2021-01-01 (5,103 rows, 612 positives) and validates January-June 2021 (2,431 rows, 300 positives). Window 2 fits snapshots before 2021-07-01 (7,534 rows, 912 positives) and validates July-December 2021 (2,489 rows, 314 positives). Each candidate has its own fitted preprocessing in each window. Selection minimizes row-weighted validation log loss. Weighted AUC and average precision are summaries of the windows, not pooled metrics.</a:t>
            </a:r>
          </a:p>
          <a:p>
            <a:pPr/>
          </a:p>
          <a:p>
            <a:pPr/>
            <a:r>
              <a:t>Once a configuration is selected, evaluation_model fits all 10,023 development rows from 2020-2021 and predicts the untouched 4,967 captured in 2022. Its performance is recorded before final_model refits on all 14,990 labelled rows for scoring. These are separate fitted objects with different purposes.</a:t>
            </a:r>
          </a:p>
          <a:p>
            <a:pPr/>
          </a:p>
          <a:p>
            <a:pPr/>
            <a:r>
              <a:t>Benchmarks fit an overall occurrence rate or one historical rate per coverage using the same fit rows. A separate three-fold company-disjoint diagnostic within development history checks behavior on held-out companies. It does not replace the capture ordering or use 2022 to select the model.</a:t>
            </a:r>
          </a:p>
          <a:p>
            <a:pPr/>
          </a:p>
          <a:p>
            <a:pPr/>
            <a:r>
              <a:t>Because mature historical outcomes and feature availability at capture are unverified, the split tests separation of retrospective capture cohorts. It does not establish that these exact training labels were historically available at deployment.</a:t>
            </a:r>
          </a:p>
          <a:p>
            <a:pPr/>
          </a:p>
          <a:p>
            <a:pPr/>
            <a:r>
              <a:t>Sources: https://github.com/heddence/commercial_auto_risk_scoring/blob/fe48fd76cd04330c8119546de28b982b36b74612/risk_scorer.ipynb</a:t>
            </a:r>
          </a:p>
          <a:p>
            <a:pPr/>
            <a:r>
              <a:t>https://github.com/heddence/commercial_auto_risk_scoring/blob/fe48fd76cd04330c8119546de28b982b36b74612/reports/validation_by_window.csv</a:t>
            </a:r>
          </a:p>
          <a:p>
            <a:pPr/>
            <a:r>
              <a:t>https://github.com/heddence/commercial_auto_risk_scoring/blob/fe48fd76cd04330c8119546de28b982b36b74612/reports/group_disjoint_diagnostic.csv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The notebook evaluates 30 configurations, excluding the two constant-rate benchmarks. Logistic regression is suited to the binary occurrence target. It models log odds linearly and uses L2 regularization by default. Lower C means stronger regularization. The tested C values are 0.05, 0.2 and 1.0 with raw and derived features. Scaling matters because the penalty otherwise depends on input units.</a:t>
            </a:r>
          </a:p>
          <a:p>
            <a:pPr/>
          </a:p>
          <a:p>
            <a:pPr/>
            <a:r>
              <a:t>Histogram gradient boosting can represent nonlinear effects and interactions. Challengers use learning rate 0.05, minimum 30 rows per leaf, L2 regularization 20, and no early stopping. The list includes maximum leaf counts 4, 8 and 16, with 80 or 160 stages. Not every possible combination appears in every feature variant. One-hot and native categorical variants are both tested. Native categorical boosting receives explicit categorical positions so integer codes are category identifiers rather than ordered numeric quantities.</a:t>
            </a:r>
          </a:p>
          <a:p>
            <a:pPr/>
          </a:p>
          <a:p>
            <a:pPr/>
            <a:r>
              <a:t>Poisson regression uses the actual nonnegative claim counts with a log link. It converts its mean lambda to occurrence with 1-exp(-lambda), which relies on the conditional Poisson distribution assumption. All supplied retained terms are 365 days, so there is no differing policy-time offset here. Alpha is 0.01, 0.1 or 1.</a:t>
            </a:r>
          </a:p>
          <a:p>
            <a:pPr/>
          </a:p>
          <a:p>
            <a:pPr/>
            <a:r>
              <a:t>Additional tests include derived inputs, sigmoid calibration and premium removal. Sigmoid calibration uses company-grouped inner folds within each outer fit, and is not selected. No class weighting or oversampling is used because the output should preserve occurrence probabilities. Log loss, Brier, ROC AUC and average precision assess different parts of prediction quality.</a:t>
            </a:r>
          </a:p>
          <a:p>
            <a:pPr/>
          </a:p>
          <a:p>
            <a:pPr/>
            <a:r>
              <a:t>Sources: https://github.com/heddence/commercial_auto_risk_scoring/blob/fe48fd76cd04330c8119546de28b982b36b74612/risk_scorer.ipynb</a:t>
            </a:r>
          </a:p>
          <a:p>
            <a:pPr/>
            <a:r>
              <a:t>https://github.com/heddence/commercial_auto_risk_scoring/blob/fe48fd76cd04330c8119546de28b982b36b74612/risk_scoring.py</a:t>
            </a:r>
          </a:p>
          <a:p>
            <a:pPr/>
            <a:r>
              <a:t>https://github.com/heddence/commercial_auto_risk_scoring/blob/fe48fd76cd04330c8119546de28b982b36b74612/reports/validation_summary.csv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r>
              <a:t>Selection uses the lowest row-weighted log loss across the two 2021 validation windows. The selected configuration is logistic_derived_C0.05 at 0.3575725363. The best boosting configuration is boosting_raw_L4_T160 at 0.3577069534. The best Poisson configuration, poisson_raw_alpha0.01, has 0.3586629317. The coverage-rate reference has 0.3716139413 and the overall-rate reference has 0.3764550655. The chart has an explicitly zoomed 0.35-0.38 scale so small differences remain visible.</a:t>
            </a:r>
          </a:p>
          <a:p>
            <a:pPr/>
          </a:p>
          <a:p>
            <a:pPr/>
            <a:r>
              <a:t>The logistic-boosting gap is 0.0001344. Boosting wins the first window and the selected logistic model wins the second. It is reasonable to keep the model that minimizes the predeclared selection criterion, but it is not evidence of universal logistic superiority. Its simpler regularized form is useful operationally, while the actual selection rule remains log loss.</a:t>
            </a:r>
          </a:p>
          <a:p>
            <a:pPr/>
          </a:p>
          <a:p>
            <a:pPr/>
            <a:r>
              <a:t>Log loss scores the probability assigned to the observed binary outcome and strongly penalizes confident errors. Brier score is a squared-probability error. Both reflect probability quality including discrimination and calibration. ROC AUC measures ranking across classes. Average precision emphasizes ranking among relatively rare positive lines. None should be called the accuracy of the 3,000 unlabelled scoring rows.</a:t>
            </a:r>
          </a:p>
          <a:p>
            <a:pPr/>
          </a:p>
          <a:p>
            <a:pPr/>
            <a:r>
              <a:t>No sigmoid calibrator is part of the selected model. Premium removal is a tested variant, but a different-C comparison is not an isolated premium ablation.</a:t>
            </a:r>
          </a:p>
          <a:p>
            <a:pPr/>
          </a:p>
          <a:p>
            <a:pPr/>
            <a:r>
              <a:t>Sources: https://github.com/heddence/commercial_auto_risk_scoring/blob/fe48fd76cd04330c8119546de28b982b36b74612/reports/validation_summary.csv</a:t>
            </a:r>
          </a:p>
          <a:p>
            <a:pPr/>
            <a:r>
              <a:t>https://github.com/heddence/commercial_auto_risk_scoring/blob/fe48fd76cd04330c8119546de28b982b36b74612/reports/validation_by_window.csv</a:t>
            </a:r>
          </a:p>
          <a:p>
            <a:pPr/>
            <a:r>
              <a:t>https://github.com/heddence/commercial_auto_risk_scoring/blob/fe48fd76cd04330c8119546de28b982b36b74612/risk_scorer.ipynb</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Shape 245"/>
          <p:cNvSpPr/>
          <p:nvPr>
            <p:ph type="sldImg"/>
          </p:nvPr>
        </p:nvSpPr>
        <p:spPr>
          <a:prstGeom prst="rect">
            <a:avLst/>
          </a:prstGeom>
        </p:spPr>
        <p:txBody>
          <a:bodyPr/>
          <a:lstStyle/>
          <a:p>
            <a:pPr/>
          </a:p>
        </p:txBody>
      </p:sp>
      <p:sp>
        <p:nvSpPr>
          <p:cNvPr id="246" name="Shape 246"/>
          <p:cNvSpPr/>
          <p:nvPr>
            <p:ph type="body" sz="quarter" idx="1"/>
          </p:nvPr>
        </p:nvSpPr>
        <p:spPr>
          <a:prstGeom prst="rect">
            <a:avLst/>
          </a:prstGeom>
        </p:spPr>
        <p:txBody>
          <a:bodyPr/>
          <a:lstStyle/>
          <a:p>
            <a:pPr/>
            <a:r>
              <a:t>All metrics here use evaluation_model fitted on 2020-2021, not the final model refitted on all history. The 2022 capture cohort has 4,967 lines and 627 positives (12.62%). Selected-model log loss is 0.3596612 versus 0.3743491 for a historical coverage-rate baseline, a 3.9236% relative reduction. ROC AUC is 0.6753173 versus 0.5742356. Brier score is 0.1057105 versus 0.1092445. Average precision is 0.2281982 versus 0.1468970.</a:t>
            </a:r>
          </a:p>
          <a:p>
            <a:pPr/>
          </a:p>
          <a:p>
            <a:pPr/>
            <a:r>
              <a:t>The coverage-only baseline already ranks APD above AL. Within-coverage AUC therefore tests additional ranking beyond that difference: 0.6601 for APD and 0.6465 for AL. APD observed occurrence is 15.93% versus mean prediction 15.28%. AL observed occurrence is 9.38% versus prediction 9.07%. These are diagnostics, not independently trained models.</a:t>
            </a:r>
          </a:p>
          <a:p>
            <a:pPr/>
          </a:p>
          <a:p>
            <a:pPr/>
            <a:r>
              <a:t>The calibration chart compares six approximately equal-sized score groups. Its x coordinate is the group's mean predicted probability and y is observed occurrence. It is descriptive, and does not guarantee individual accuracy or future calibration.</a:t>
            </a:r>
          </a:p>
          <a:p>
            <a:pPr/>
          </a:p>
          <a:p>
            <a:pPr/>
            <a:r>
              <a:t>The highest-scored ceil(10% * 4,967) = 497 lines contain 145 positives. Occurrence is 29.175%, lift is 2.311, and captured positives are 145/627 = 23.126%. This suggests a review-priority use. It does not establish financial savings or an optimal operational threshold. A fixed-model company-cluster bootstrap gives a descriptive 95% interval [0.00945,0.02062] for the absolute paired log-loss gain of 0.01469. It is not individual-probability or future-performance uncertainty.</a:t>
            </a:r>
          </a:p>
          <a:p>
            <a:pPr/>
          </a:p>
          <a:p>
            <a:pPr/>
            <a:r>
              <a:t>Sources: https://github.com/heddence/commercial_auto_risk_scoring/blob/fe48fd76cd04330c8119546de28b982b36b74612/reports/test_metrics.csv</a:t>
            </a:r>
          </a:p>
          <a:p>
            <a:pPr/>
            <a:r>
              <a:t>https://github.com/heddence/commercial_auto_risk_scoring/blob/fe48fd76cd04330c8119546de28b982b36b74612/reports/test_subgroups.csv</a:t>
            </a:r>
          </a:p>
          <a:p>
            <a:pPr/>
            <a:r>
              <a:t>https://github.com/heddence/commercial_auto_risk_scoring/blob/fe48fd76cd04330c8119546de28b982b36b74612/reports/test_calibration.csv</a:t>
            </a:r>
          </a:p>
          <a:p>
            <a:pPr/>
            <a:r>
              <a:t>https://github.com/heddence/commercial_auto_risk_scoring/blob/fe48fd76cd04330c8119546de28b982b36b74612/reports/evaluation.json</a:t>
            </a:r>
          </a:p>
          <a:p>
            <a:pPr/>
            <a:r>
              <a:t>https://github.com/heddence/commercial_auto_risk_scoring/blob/fe48fd76cd04330c8119546de28b982b36b74612/risk_scorer.ipynb</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After recording evaluation evidence, final_model refits the unchanged selected configuration on all 14,990 retained historical rows. This includes the 2022 labelled rows that were excluded from selection and from evaluation_model's fit. Its fitted medians, categorical vocabulary, scaler and coefficients consequently belong to this larger final fit. The evaluation metrics should not be attributed to this refit as a newly tested model.</a:t>
            </a:r>
          </a:p>
          <a:p>
            <a:pPr/>
          </a:p>
          <a:p>
            <a:pPr/>
            <a:r>
              <a:t>The scoring workflow accepts all 3,000 supplied score.csv lines, comprising 1,500 APD and 1,500 AL. It outputs exactly two columns, policy_id and risk_score, and preserves scoring-file order. Predictions must be aligned to unique IDs, finite, and within [0,1]. The mean final probability is 0.162359 for APD and 0.094854 for AL. These are averages of the shared model's predictions for different coverage populations, not constants assigned by separate models.</a:t>
            </a:r>
          </a:p>
          <a:p>
            <a:pPr/>
          </a:p>
          <a:p>
            <a:pPr/>
            <a:r>
              <a:t>The fitted full pipeline is persisted alongside a manifest and scoring-quality report. The notebook checks saved/reloaded predictions against the in-memory output. The repository also keeps selection reports, evaluation reports and excluded-row evidence.</a:t>
            </a:r>
          </a:p>
          <a:p>
            <a:pPr/>
          </a:p>
          <a:p>
            <a:pPr/>
            <a:r>
              <a:t>Scoring outcomes are absent. Differences between these mean probabilities and historical occurrence can reflect composition changes, fitted-model changes or future calibration issues. We cannot measure scoring-file predictive quality until appropriate outcomes mature.</a:t>
            </a:r>
          </a:p>
          <a:p>
            <a:pPr/>
          </a:p>
          <a:p>
            <a:pPr/>
            <a:r>
              <a:t>Sources: https://github.com/heddence/commercial_auto_risk_scoring/blob/fe48fd76cd04330c8119546de28b982b36b74612/predictions.csv</a:t>
            </a:r>
          </a:p>
          <a:p>
            <a:pPr/>
            <a:r>
              <a:t>https://github.com/heddence/commercial_auto_risk_scoring/blob/fe48fd76cd04330c8119546de28b982b36b74612/reports/scoring_quality.json</a:t>
            </a:r>
          </a:p>
          <a:p>
            <a:pPr/>
            <a:r>
              <a:t>https://github.com/heddence/commercial_auto_risk_scoring/blob/fe48fd76cd04330c8119546de28b982b36b74612/artifacts/manifest.json</a:t>
            </a:r>
          </a:p>
          <a:p>
            <a:pPr/>
            <a:r>
              <a:t>https://github.com/heddence/commercial_auto_risk_scoring/blob/fe48fd76cd04330c8119546de28b982b36b74612/risk_scorer.ipynb</a:t>
            </a:r>
          </a:p>
          <a:p>
            <a:pPr/>
            <a:r>
              <a:t>https://github.com/heddence/commercial_auto_risk_scoring/blob/fe48fd76cd04330c8119546de28b982b36b74612/risk_scoring.py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The original prototype in the task used current-period paid claims and reporting delay as predictors. These directly reveal whether a claim occurred. The fixed underwriting allowlist removes those outcome signals and fields that are absent or unavailable at the scoring moment. The original apparent performance therefore is not a valid comparable result.</a:t>
            </a:r>
          </a:p>
          <a:p>
            <a:pPr/>
          </a:p>
          <a:p>
            <a:pPr/>
            <a:r>
              <a:t>Original missing-value filling and independent categorical coding could produce arbitrary relationships and train/scoring category mismatches. The replacement pipeline fits numeric medians, indicators, category vocabulary and scaling within training rows and reuses those fitted transformations at inference. Unknown categories are handled explicitly. This also prevents preprocessing leakage from evaluation rows.</a:t>
            </a:r>
          </a:p>
          <a:p>
            <a:pPr/>
          </a:p>
          <a:p>
            <a:pPr/>
            <a:r>
              <a:t>Original fitting-set accuracy does not establish generalization and is weak for a low-prevalence probabilistic target. The implementation separates candidate selection from 2022 retrospective evaluation, compares fit-derived overall and coverage rates, and measures log loss, Brier, AUC, average precision, calibration, subgroups and top-decile concentration. Company-disjoint development diagnostics provide a different generalization check. The capture-time availability limitation still applies.</a:t>
            </a:r>
          </a:p>
          <a:p>
            <a:pPr/>
          </a:p>
          <a:p>
            <a:pPr/>
            <a:r>
              <a:t>A single default binary decision is replaced by three model families and 30 configurations chosen on an explicit probability metric. Derived inputs are justified by observed development patterns and tested through validation. Once evaluation is recorded, the selected configuration refits on all usable labelled history. These are concrete implemented changes, not claims of production deployment or a proven monetary benefit.</a:t>
            </a:r>
          </a:p>
          <a:p>
            <a:pPr/>
          </a:p>
          <a:p>
            <a:pPr/>
            <a:r>
              <a:t>Sources: https://github.com/heddence/commercial_auto_risk_scoring/blob/fe48fd76cd04330c8119546de28b982b36b74612/risk_scorer.ipynb</a:t>
            </a:r>
          </a:p>
          <a:p>
            <a:pPr/>
            <a:r>
              <a:t>https://github.com/heddence/commercial_auto_risk_scoring/blob/fe48fd76cd04330c8119546de28b982b36b74612/risk_scoring.py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First, risk_scoring.py provides one preparation and inference contract for notebook training and downstream scoring. It validates required columns, coverage values, nonempty unique identity, parseable dates and numeric input rules. The scoring path fails on invalid policy periods rather than silently changing the expected output population.</a:t>
            </a:r>
          </a:p>
          <a:p>
            <a:pPr/>
          </a:p>
          <a:p>
            <a:pPr/>
            <a:r>
              <a:t>Second, the complete fitted pipeline is saved with a manifest containing configuration, feature schema, target description, fit metadata, environment versions and aggregate training reference statistics. Persisting preprocessing alongside the classifier avoids re-estimating category mappings or medians at inference. The loader validates declared dependency versions.</a:t>
            </a:r>
          </a:p>
          <a:p>
            <a:pPr/>
          </a:p>
          <a:p>
            <a:pPr/>
            <a:r>
              <a:t>Third, output checks verify row count, identity/order, finite probabilities and [0,1] range, plus equivalence of saved/reloaded and in-memory scores. Fourth, descriptive audit reports record exclusions, missingness and unfamiliar categories and preserve evaluation evidence. The quality report does not implement an alerting service.</a:t>
            </a:r>
          </a:p>
          <a:p>
            <a:pPr/>
          </a:p>
          <a:p>
            <a:pPr/>
            <a:r>
              <a:t>The committed manifest and current requirements do not fully align: for example, the committed artifact declares scikit-learn 1.7.2 while requirements specify 1.8.0. The strict loader can reject that old artifact. A fresh end-to-end fit/save/load under a consistent environment succeeds. Aligning and verifying the released artifact is a roadmap requirement. The notebook's prose mentions input/code hashes, but the actual manifest has no such hashes. Do not claim immutable lineage already exists. Scheduled operations, CI, registry promotion, monitoring alerts, access controls and tested rollback are future work.</a:t>
            </a:r>
          </a:p>
          <a:p>
            <a:pPr/>
          </a:p>
          <a:p>
            <a:pPr/>
            <a:r>
              <a:t>Sources: https://github.com/heddence/commercial_auto_risk_scoring/blob/fe48fd76cd04330c8119546de28b982b36b74612/risk_scoring.py</a:t>
            </a:r>
          </a:p>
          <a:p>
            <a:pPr/>
            <a:r>
              <a:t>https://github.com/heddence/commercial_auto_risk_scoring/blob/fe48fd76cd04330c8119546de28b982b36b74612/risk_scorer.ipynb</a:t>
            </a:r>
          </a:p>
          <a:p>
            <a:pPr/>
            <a:r>
              <a:t>https://github.com/heddence/commercial_auto_risk_scoring/blob/fe48fd76cd04330c8119546de28b982b36b74612/artifacts/manifest.json</a:t>
            </a:r>
          </a:p>
          <a:p>
            <a:pPr/>
            <a:r>
              <a:t>https://github.com/heddence/commercial_auto_risk_scoring/blob/fe48fd76cd04330c8119546de28b982b36b74612/requirements.txt</a:t>
            </a:r>
          </a:p>
          <a:p>
            <a:pPr/>
            <a:r>
              <a:t>https://github.com/heddence/commercial_auto_risk_scoring/blob/fe48fd76cd04330c8119546de28b982b36b74612/reports/scoring_quality.json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Shape 302"/>
          <p:cNvSpPr/>
          <p:nvPr>
            <p:ph type="sldImg"/>
          </p:nvPr>
        </p:nvSpPr>
        <p:spPr>
          <a:prstGeom prst="rect">
            <a:avLst/>
          </a:prstGeom>
        </p:spPr>
        <p:txBody>
          <a:bodyPr/>
          <a:lstStyle/>
          <a:p>
            <a:pPr/>
          </a:p>
        </p:txBody>
      </p:sp>
      <p:sp>
        <p:nvSpPr>
          <p:cNvPr id="303" name="Shape 303"/>
          <p:cNvSpPr/>
          <p:nvPr>
            <p:ph type="body" sz="quarter" idx="1"/>
          </p:nvPr>
        </p:nvSpPr>
        <p:spPr>
          <a:prstGeom prst="rect">
            <a:avLst/>
          </a:prstGeom>
        </p:spPr>
        <p:txBody>
          <a:bodyPr/>
          <a:lstStyle/>
          <a:p>
            <a:pPr/>
            <a:r>
              <a:t>Stage 1 packages a reproducible batch release. Align dependencies with the saved pipeline and manifest, add CI cases for schema errors, unseen categories, missing values and row accounting, and record immutable data/code/model/run identities. Benchmark expected volumes and demonstrate failure/recovery. The current saved metadata is useful but lacks input/code hashes.</a:t>
            </a:r>
          </a:p>
          <a:p>
            <a:pPr/>
          </a:p>
          <a:p>
            <a:pPr/>
            <a:r>
              <a:t>Stage 2 schedules shadow scoring without altering underwriting decisions. Record score and input versions, quality, latency and failures. Review new rideshare rows, company overlap and driver/mileage shifts. Assess calibration, ranking and APD/AL or other relevant subgroups once outcomes mature.</a:t>
            </a:r>
          </a:p>
          <a:p>
            <a:pPr/>
          </a:p>
          <a:p>
            <a:pPr/>
            <a:r>
              <a:t>Stage 3 introduces limited decision support with approved scope, traceable reviews, access controls, monitoring thresholds, named incident ownership and tested rollback. Promote challengers or retrain only against approved mature labels, with a defined evaluation and release process. A threshold must follow review capacity and error costs, not an arbitrary 0.5 decision.</a:t>
            </a:r>
          </a:p>
          <a:p>
            <a:pPr/>
          </a:p>
          <a:p>
            <a:pPr/>
            <a:r>
              <a:t>Sources: https://github.com/heddence/commercial_auto_risk_scoring/blob/fe48fd76cd04330c8119546de28b982b36b74612/risk_scorer.ipynb</a:t>
            </a:r>
          </a:p>
          <a:p>
            <a:pPr/>
            <a:r>
              <a:t>https://github.com/heddence/commercial_auto_risk_scoring/blob/fe48fd76cd04330c8119546de28b982b36b74612/risk_scoring.py</a:t>
            </a:r>
          </a:p>
          <a:p>
            <a:pPr/>
            <a:r>
              <a:t>https://github.com/heddence/commercial_auto_risk_scoring/blob/fe48fd76cd04330c8119546de28b982b36b74612/reports/evaluation.json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ChatGPT/Codex assisted with code validation and creation of this presentation.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219200" y="2590800"/>
            <a:ext cx="9753600" cy="990600"/>
          </a:xfrm>
          <a:prstGeom prst="rect">
            <a:avLst/>
          </a:prstGeom>
        </p:spPr>
        <p:txBody>
          <a:bodyPr anchor="ctr"/>
          <a:lstStyle/>
          <a:p>
            <a:pPr/>
            <a:r>
              <a:t>Title Text</a:t>
            </a:r>
          </a:p>
        </p:txBody>
      </p:sp>
      <p:sp>
        <p:nvSpPr>
          <p:cNvPr id="12" name="Body Level One…"/>
          <p:cNvSpPr txBox="1"/>
          <p:nvPr>
            <p:ph type="body" sz="quarter" idx="1"/>
          </p:nvPr>
        </p:nvSpPr>
        <p:spPr>
          <a:xfrm>
            <a:off x="1828800" y="3771900"/>
            <a:ext cx="8534400" cy="762000"/>
          </a:xfrm>
          <a:prstGeom prst="rect">
            <a:avLst/>
          </a:prstGeom>
        </p:spPr>
        <p:txBody>
          <a:bodyPr anchor="ctr"/>
          <a:lstStyle>
            <a:lvl1pPr marL="0" indent="0">
              <a:spcBef>
                <a:spcPts val="0"/>
              </a:spcBef>
              <a:buSzTx/>
              <a:buNone/>
            </a:lvl1pPr>
            <a:lvl2pPr marL="0" indent="0">
              <a:spcBef>
                <a:spcPts val="0"/>
              </a:spcBef>
              <a:buSzTx/>
              <a:buNone/>
            </a:lvl2pPr>
            <a:lvl3pPr marL="0" indent="0">
              <a:spcBef>
                <a:spcPts val="0"/>
              </a:spcBef>
              <a:buSzTx/>
              <a:buNone/>
            </a:lvl3pPr>
            <a:lvl4pPr marL="0" indent="0">
              <a:spcBef>
                <a:spcPts val="0"/>
              </a:spcBef>
              <a:buSzTx/>
              <a:buNone/>
            </a:lvl4pPr>
            <a:lvl5pPr marL="0" indent="0">
              <a:spcBef>
                <a:spcPts val="0"/>
              </a:spcBef>
              <a:buSzTx/>
              <a:buNone/>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0" name="Title Text"/>
          <p:cNvSpPr txBox="1"/>
          <p:nvPr>
            <p:ph type="title"/>
          </p:nvPr>
        </p:nvSpPr>
        <p:spPr>
          <a:xfrm>
            <a:off x="1219200" y="2857500"/>
            <a:ext cx="9753600" cy="1143000"/>
          </a:xfrm>
          <a:prstGeom prst="rect">
            <a:avLst/>
          </a:prstGeom>
        </p:spPr>
        <p:txBody>
          <a:bodyPr anchor="ct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Two Column">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685800" y="1905000"/>
            <a:ext cx="5029200" cy="42672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9" name="Right column"/>
          <p:cNvSpPr/>
          <p:nvPr>
            <p:ph type="body" sz="half" idx="21"/>
          </p:nvPr>
        </p:nvSpPr>
        <p:spPr>
          <a:xfrm>
            <a:off x="6477000" y="1905000"/>
            <a:ext cx="5029200" cy="4267200"/>
          </a:xfrm>
          <a:prstGeom prst="rect">
            <a:avLst/>
          </a:prstGeom>
        </p:spPr>
        <p:txBody>
          <a:bodyPr/>
          <a:lstStyle/>
          <a:p>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One Colum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half" idx="1"/>
          </p:nvPr>
        </p:nvSpPr>
        <p:spPr>
          <a:xfrm>
            <a:off x="685800" y="1905000"/>
            <a:ext cx="5029200" cy="42672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85800" y="533400"/>
            <a:ext cx="108204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Title Text</a:t>
            </a:r>
          </a:p>
        </p:txBody>
      </p:sp>
      <p:sp>
        <p:nvSpPr>
          <p:cNvPr id="3" name="Body Level One…"/>
          <p:cNvSpPr txBox="1"/>
          <p:nvPr>
            <p:ph type="body" idx="1"/>
          </p:nvPr>
        </p:nvSpPr>
        <p:spPr>
          <a:xfrm>
            <a:off x="685800" y="1905000"/>
            <a:ext cx="10820400" cy="42672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1pPr>
      <a:lvl2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2pPr>
      <a:lvl3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3pPr>
      <a:lvl4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4pPr>
      <a:lvl5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5pPr>
      <a:lvl6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6pPr>
      <a:lvl7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7pPr>
      <a:lvl8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8pPr>
      <a:lvl9pPr marL="0" marR="0" indent="0" algn="l" defTabSz="914400" latinLnBrk="0">
        <a:lnSpc>
          <a:spcPct val="110000"/>
        </a:lnSpc>
        <a:spcBef>
          <a:spcPts val="0"/>
        </a:spcBef>
        <a:spcAft>
          <a:spcPts val="0"/>
        </a:spcAft>
        <a:buClrTx/>
        <a:buSzTx/>
        <a:buFontTx/>
        <a:buNone/>
        <a:tabLst/>
        <a:defRPr b="0" baseline="0" cap="none" i="0" spc="0" strike="noStrike" sz="4400" u="none">
          <a:solidFill>
            <a:srgbClr val="000000"/>
          </a:solidFill>
          <a:uFillTx/>
          <a:latin typeface="Aptos"/>
          <a:ea typeface="Aptos"/>
          <a:cs typeface="Aptos"/>
          <a:sym typeface="Aptos"/>
        </a:defRPr>
      </a:lvl9pPr>
    </p:titleStyle>
    <p:bodyStyle>
      <a:lvl1pPr marL="228600" marR="0" indent="-228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1pPr>
      <a:lvl2pPr marL="571500" marR="0" indent="-2667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2pPr>
      <a:lvl3pPr marL="929639" marR="0" indent="-320039"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3pPr>
      <a:lvl4pPr marL="12700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4pPr>
      <a:lvl5pPr marL="15748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5pPr>
      <a:lvl6pPr marL="18796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6pPr>
      <a:lvl7pPr marL="21844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7pPr>
      <a:lvl8pPr marL="24892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8pPr>
      <a:lvl9pPr marL="2794000" marR="0" indent="-355600" algn="l" defTabSz="914400" latinLnBrk="0">
        <a:lnSpc>
          <a:spcPct val="110000"/>
        </a:lnSpc>
        <a:spcBef>
          <a:spcPts val="1200"/>
        </a:spcBef>
        <a:spcAft>
          <a:spcPts val="0"/>
        </a:spcAft>
        <a:buClrTx/>
        <a:buSzPct val="100000"/>
        <a:buFontTx/>
        <a:buChar char="•"/>
        <a:tabLst/>
        <a:defRPr b="0" baseline="0" cap="none" i="0" spc="0" strike="noStrike" sz="2800" u="none">
          <a:solidFill>
            <a:srgbClr val="000000"/>
          </a:solidFill>
          <a:uFillTx/>
          <a:latin typeface="Aptos"/>
          <a:ea typeface="Aptos"/>
          <a:cs typeface="Apto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4.xml"/><Relationship Id="rId4" Type="http://schemas.openxmlformats.org/officeDocument/2006/relationships/chart" Target="../charts/chart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Zurich case study"/>
          <p:cNvSpPr txBox="1"/>
          <p:nvPr/>
        </p:nvSpPr>
        <p:spPr>
          <a:xfrm>
            <a:off x="685800" y="609600"/>
            <a:ext cx="8763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5DAA"/>
                </a:solidFill>
                <a:latin typeface="Nimbus Sans"/>
                <a:ea typeface="Nimbus Sans"/>
                <a:cs typeface="Nimbus Sans"/>
                <a:sym typeface="Nimbus Sans"/>
              </a:defRPr>
            </a:lvl1pPr>
          </a:lstStyle>
          <a:p>
            <a:pPr/>
            <a:r>
              <a:t>Zurich case study</a:t>
            </a:r>
          </a:p>
        </p:txBody>
      </p:sp>
      <p:sp>
        <p:nvSpPr>
          <p:cNvPr id="66" name="Deck title"/>
          <p:cNvSpPr txBox="1"/>
          <p:nvPr/>
        </p:nvSpPr>
        <p:spPr>
          <a:xfrm>
            <a:off x="685800" y="1295400"/>
            <a:ext cx="6286500" cy="149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900">
                <a:solidFill>
                  <a:srgbClr val="142F4D"/>
                </a:solidFill>
                <a:latin typeface="Nimbus Sans"/>
                <a:ea typeface="Nimbus Sans"/>
                <a:cs typeface="Nimbus Sans"/>
                <a:sym typeface="Nimbus Sans"/>
              </a:defRPr>
            </a:pPr>
            <a:r>
              <a:t>Commercial auto</a:t>
            </a:r>
          </a:p>
          <a:p>
            <a:pPr>
              <a:defRPr b="1" sz="4900">
                <a:solidFill>
                  <a:srgbClr val="142F4D"/>
                </a:solidFill>
                <a:latin typeface="Nimbus Sans"/>
                <a:ea typeface="Nimbus Sans"/>
                <a:cs typeface="Nimbus Sans"/>
                <a:sym typeface="Nimbus Sans"/>
              </a:defRPr>
            </a:pPr>
            <a:r>
              <a:t>claim risk</a:t>
            </a:r>
          </a:p>
        </p:txBody>
      </p:sp>
      <p:sp>
        <p:nvSpPr>
          <p:cNvPr id="67" name="Probability of at least one claimfor each AP"/>
          <p:cNvSpPr txBox="1"/>
          <p:nvPr/>
        </p:nvSpPr>
        <p:spPr>
          <a:xfrm>
            <a:off x="685800" y="3286125"/>
            <a:ext cx="6429375" cy="736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400">
                <a:solidFill>
                  <a:srgbClr val="142F4D"/>
                </a:solidFill>
                <a:latin typeface="Nimbus Sans"/>
                <a:ea typeface="Nimbus Sans"/>
                <a:cs typeface="Nimbus Sans"/>
                <a:sym typeface="Nimbus Sans"/>
              </a:defRPr>
            </a:pPr>
            <a:r>
              <a:t>Probability of at least one claim</a:t>
            </a:r>
          </a:p>
          <a:p>
            <a:pPr>
              <a:defRPr sz="2400">
                <a:solidFill>
                  <a:srgbClr val="142F4D"/>
                </a:solidFill>
                <a:latin typeface="Nimbus Sans"/>
                <a:ea typeface="Nimbus Sans"/>
                <a:cs typeface="Nimbus Sans"/>
                <a:sym typeface="Nimbus Sans"/>
              </a:defRPr>
            </a:pPr>
            <a:r>
              <a:t>for each APD or AL policy line.</a:t>
            </a:r>
          </a:p>
        </p:txBody>
      </p:sp>
      <p:sp>
        <p:nvSpPr>
          <p:cNvPr id="68" name="Task requirements"/>
          <p:cNvSpPr txBox="1"/>
          <p:nvPr/>
        </p:nvSpPr>
        <p:spPr>
          <a:xfrm>
            <a:off x="7620000" y="1771650"/>
            <a:ext cx="388620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Task requirements</a:t>
            </a:r>
          </a:p>
        </p:txBody>
      </p:sp>
      <p:sp>
        <p:nvSpPr>
          <p:cNvPr id="69" name="Explore data and explain key findings.…"/>
          <p:cNvSpPr txBox="1"/>
          <p:nvPr/>
        </p:nvSpPr>
        <p:spPr>
          <a:xfrm>
            <a:off x="7620000" y="2362200"/>
            <a:ext cx="3886200" cy="2565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Explore data and explain key findings.</a:t>
            </a:r>
          </a:p>
          <a:p>
            <a:pPr marL="228600" indent="-114300">
              <a:spcBef>
                <a:spcPts val="1200"/>
              </a:spcBef>
              <a:buSzPct val="100000"/>
              <a:buChar char="•"/>
              <a:defRPr>
                <a:solidFill>
                  <a:srgbClr val="142F4D"/>
                </a:solidFill>
                <a:latin typeface="Nimbus Sans"/>
                <a:ea typeface="Nimbus Sans"/>
                <a:cs typeface="Nimbus Sans"/>
                <a:sym typeface="Nimbus Sans"/>
              </a:defRPr>
            </a:pPr>
            <a:r>
              <a:t>Improve modeling methodology.</a:t>
            </a:r>
          </a:p>
          <a:p>
            <a:pPr marL="228600" indent="-114300">
              <a:spcBef>
                <a:spcPts val="1200"/>
              </a:spcBef>
              <a:buSzPct val="100000"/>
              <a:buChar char="•"/>
              <a:defRPr>
                <a:solidFill>
                  <a:srgbClr val="142F4D"/>
                </a:solidFill>
                <a:latin typeface="Nimbus Sans"/>
                <a:ea typeface="Nimbus Sans"/>
                <a:cs typeface="Nimbus Sans"/>
                <a:sym typeface="Nimbus Sans"/>
              </a:defRPr>
            </a:pPr>
            <a:r>
              <a:t>Improve production readiness.</a:t>
            </a:r>
          </a:p>
          <a:p>
            <a:pPr marL="228600" indent="-114300">
              <a:spcBef>
                <a:spcPts val="1200"/>
              </a:spcBef>
              <a:buSzPct val="100000"/>
              <a:buChar char="•"/>
              <a:defRPr>
                <a:solidFill>
                  <a:srgbClr val="142F4D"/>
                </a:solidFill>
                <a:latin typeface="Nimbus Sans"/>
                <a:ea typeface="Nimbus Sans"/>
                <a:cs typeface="Nimbus Sans"/>
                <a:sym typeface="Nimbus Sans"/>
              </a:defRPr>
            </a:pPr>
            <a:r>
              <a:t>Outline a deployment roadmap.</a:t>
            </a:r>
          </a:p>
          <a:p>
            <a:pPr marL="228600" indent="-114300">
              <a:spcBef>
                <a:spcPts val="1200"/>
              </a:spcBef>
              <a:buSzPct val="100000"/>
              <a:buChar char="•"/>
              <a:defRPr>
                <a:solidFill>
                  <a:srgbClr val="142F4D"/>
                </a:solidFill>
                <a:latin typeface="Nimbus Sans"/>
                <a:ea typeface="Nimbus Sans"/>
                <a:cs typeface="Nimbus Sans"/>
                <a:sym typeface="Nimbus Sans"/>
              </a:defRPr>
            </a:pPr>
            <a:r>
              <a:t>Present findings, learned concepts and AI use.</a:t>
            </a:r>
          </a:p>
        </p:txBody>
      </p:sp>
      <p:sp>
        <p:nvSpPr>
          <p:cNvPr id="70" name="01"/>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Dataset overview</a:t>
            </a:r>
          </a:p>
        </p:txBody>
      </p:sp>
      <p:sp>
        <p:nvSpPr>
          <p:cNvPr id="75"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76" name="02"/>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02</a:t>
            </a:r>
          </a:p>
        </p:txBody>
      </p:sp>
      <p:sp>
        <p:nvSpPr>
          <p:cNvPr id="77" name="Footnote"/>
          <p:cNvSpPr txBox="1"/>
          <p:nvPr/>
        </p:nvSpPr>
        <p:spPr>
          <a:xfrm>
            <a:off x="685800" y="6191250"/>
            <a:ext cx="108204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5DAA"/>
                </a:solidFill>
                <a:latin typeface="Nimbus Sans"/>
                <a:ea typeface="Nimbus Sans"/>
                <a:cs typeface="Nimbus Sans"/>
                <a:sym typeface="Nimbus Sans"/>
              </a:defRPr>
            </a:lvl1pPr>
          </a:lstStyle>
          <a:p>
            <a:pPr/>
            <a:r>
              <a:t>The scoring file omits claim_count, total_loss_amount and has_safety_program.</a:t>
            </a:r>
          </a:p>
        </p:txBody>
      </p:sp>
      <p:sp>
        <p:nvSpPr>
          <p:cNvPr id="78" name="15,075"/>
          <p:cNvSpPr txBox="1"/>
          <p:nvPr/>
        </p:nvSpPr>
        <p:spPr>
          <a:xfrm>
            <a:off x="685800" y="1809750"/>
            <a:ext cx="3476625" cy="660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300">
                <a:solidFill>
                  <a:srgbClr val="005DAA"/>
                </a:solidFill>
                <a:latin typeface="Nimbus Sans"/>
                <a:ea typeface="Nimbus Sans"/>
                <a:cs typeface="Nimbus Sans"/>
                <a:sym typeface="Nimbus Sans"/>
              </a:defRPr>
            </a:lvl1pPr>
          </a:lstStyle>
          <a:p>
            <a:pPr/>
            <a:r>
              <a:t>15,075</a:t>
            </a:r>
          </a:p>
        </p:txBody>
      </p:sp>
      <p:sp>
        <p:nvSpPr>
          <p:cNvPr id="79" name="Raw history rows (31 columns)2020-2022 captu"/>
          <p:cNvSpPr txBox="1"/>
          <p:nvPr/>
        </p:nvSpPr>
        <p:spPr>
          <a:xfrm>
            <a:off x="685800" y="2590800"/>
            <a:ext cx="3476625"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2677D"/>
                </a:solidFill>
                <a:latin typeface="Nimbus Sans"/>
                <a:ea typeface="Nimbus Sans"/>
                <a:cs typeface="Nimbus Sans"/>
                <a:sym typeface="Nimbus Sans"/>
              </a:defRPr>
            </a:pPr>
            <a:r>
              <a:t>Raw history rows (31 columns)</a:t>
            </a:r>
          </a:p>
          <a:p>
            <a:pPr>
              <a:defRPr>
                <a:solidFill>
                  <a:srgbClr val="52677D"/>
                </a:solidFill>
                <a:latin typeface="Nimbus Sans"/>
                <a:ea typeface="Nimbus Sans"/>
                <a:cs typeface="Nimbus Sans"/>
                <a:sym typeface="Nimbus Sans"/>
              </a:defRPr>
            </a:pPr>
            <a:r>
              <a:t>2020-2022 captures</a:t>
            </a:r>
          </a:p>
        </p:txBody>
      </p:sp>
      <p:sp>
        <p:nvSpPr>
          <p:cNvPr id="80" name="3,000"/>
          <p:cNvSpPr txBox="1"/>
          <p:nvPr/>
        </p:nvSpPr>
        <p:spPr>
          <a:xfrm>
            <a:off x="4543425" y="1809750"/>
            <a:ext cx="3476625" cy="660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300">
                <a:solidFill>
                  <a:srgbClr val="005DAA"/>
                </a:solidFill>
                <a:latin typeface="Nimbus Sans"/>
                <a:ea typeface="Nimbus Sans"/>
                <a:cs typeface="Nimbus Sans"/>
                <a:sym typeface="Nimbus Sans"/>
              </a:defRPr>
            </a:lvl1pPr>
          </a:lstStyle>
          <a:p>
            <a:pPr/>
            <a:r>
              <a:t>3,000</a:t>
            </a:r>
          </a:p>
        </p:txBody>
      </p:sp>
      <p:sp>
        <p:nvSpPr>
          <p:cNvPr id="81" name="Raw scoring rows (28 columns)2023-2024 captu"/>
          <p:cNvSpPr txBox="1"/>
          <p:nvPr/>
        </p:nvSpPr>
        <p:spPr>
          <a:xfrm>
            <a:off x="4543425" y="2590800"/>
            <a:ext cx="3476625"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2677D"/>
                </a:solidFill>
                <a:latin typeface="Nimbus Sans"/>
                <a:ea typeface="Nimbus Sans"/>
                <a:cs typeface="Nimbus Sans"/>
                <a:sym typeface="Nimbus Sans"/>
              </a:defRPr>
            </a:pPr>
            <a:r>
              <a:t>Raw scoring rows (28 columns)</a:t>
            </a:r>
          </a:p>
          <a:p>
            <a:pPr>
              <a:defRPr>
                <a:solidFill>
                  <a:srgbClr val="52677D"/>
                </a:solidFill>
                <a:latin typeface="Nimbus Sans"/>
                <a:ea typeface="Nimbus Sans"/>
                <a:cs typeface="Nimbus Sans"/>
                <a:sym typeface="Nimbus Sans"/>
              </a:defRPr>
            </a:pPr>
            <a:r>
              <a:t>2023-2024 captures</a:t>
            </a:r>
          </a:p>
        </p:txBody>
      </p:sp>
      <p:sp>
        <p:nvSpPr>
          <p:cNvPr id="82" name="1 line"/>
          <p:cNvSpPr txBox="1"/>
          <p:nvPr/>
        </p:nvSpPr>
        <p:spPr>
          <a:xfrm>
            <a:off x="8429625" y="1876425"/>
            <a:ext cx="30956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Company records</a:t>
            </a:r>
          </a:p>
        </p:txBody>
      </p:sp>
      <p:sp>
        <p:nvSpPr>
          <p:cNvPr id="83" name="APD or AL coverage lineidentified by policy_"/>
          <p:cNvSpPr txBox="1"/>
          <p:nvPr/>
        </p:nvSpPr>
        <p:spPr>
          <a:xfrm>
            <a:off x="8429625" y="2409825"/>
            <a:ext cx="3095625" cy="876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900">
                <a:solidFill>
                  <a:srgbClr val="52677D"/>
                </a:solidFill>
                <a:latin typeface="Nimbus Sans"/>
                <a:ea typeface="Nimbus Sans"/>
                <a:cs typeface="Nimbus Sans"/>
                <a:sym typeface="Nimbus Sans"/>
              </a:defRPr>
            </a:pPr>
            <a:r>
              <a:t>One company can have</a:t>
            </a:r>
          </a:p>
          <a:p>
            <a:pPr>
              <a:defRPr sz="1900">
                <a:solidFill>
                  <a:srgbClr val="52677D"/>
                </a:solidFill>
                <a:latin typeface="Nimbus Sans"/>
                <a:ea typeface="Nimbus Sans"/>
                <a:cs typeface="Nimbus Sans"/>
                <a:sym typeface="Nimbus Sans"/>
              </a:defRPr>
            </a:pPr>
            <a:r>
              <a:t>multiple APD and AL</a:t>
            </a:r>
          </a:p>
          <a:p>
            <a:pPr>
              <a:defRPr sz="1900">
                <a:solidFill>
                  <a:srgbClr val="52677D"/>
                </a:solidFill>
                <a:latin typeface="Nimbus Sans"/>
                <a:ea typeface="Nimbus Sans"/>
                <a:cs typeface="Nimbus Sans"/>
                <a:sym typeface="Nimbus Sans"/>
              </a:defRPr>
            </a:pPr>
            <a:r>
              <a:t>policy records.</a:t>
            </a:r>
          </a:p>
        </p:txBody>
      </p:sp>
      <p:sp>
        <p:nvSpPr>
          <p:cNvPr id="84" name="Fleet and drivers"/>
          <p:cNvSpPr txBox="1"/>
          <p:nvPr/>
        </p:nvSpPr>
        <p:spPr>
          <a:xfrm>
            <a:off x="685800" y="3619500"/>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Fleet and drivers</a:t>
            </a:r>
          </a:p>
        </p:txBody>
      </p:sp>
      <p:sp>
        <p:nvSpPr>
          <p:cNvPr id="85" name="vehicle_count, driver_avg_age, mileage"/>
          <p:cNvSpPr txBox="1"/>
          <p:nvPr/>
        </p:nvSpPr>
        <p:spPr>
          <a:xfrm>
            <a:off x="685800" y="39909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vehicle_count, driver_avg_age, mileage</a:t>
            </a:r>
          </a:p>
        </p:txBody>
      </p:sp>
      <p:sp>
        <p:nvSpPr>
          <p:cNvPr id="86" name="Business profile"/>
          <p:cNvSpPr txBox="1"/>
          <p:nvPr/>
        </p:nvSpPr>
        <p:spPr>
          <a:xfrm>
            <a:off x="685800" y="4429125"/>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Business profile</a:t>
            </a:r>
          </a:p>
        </p:txBody>
      </p:sp>
      <p:sp>
        <p:nvSpPr>
          <p:cNvPr id="87" name="business_type, state, years_in_business"/>
          <p:cNvSpPr txBox="1"/>
          <p:nvPr/>
        </p:nvSpPr>
        <p:spPr>
          <a:xfrm>
            <a:off x="685800" y="4800600"/>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business_type, state, years_in_business</a:t>
            </a:r>
          </a:p>
        </p:txBody>
      </p:sp>
      <p:sp>
        <p:nvSpPr>
          <p:cNvPr id="88" name="Policy and coverage"/>
          <p:cNvSpPr txBox="1"/>
          <p:nvPr/>
        </p:nvSpPr>
        <p:spPr>
          <a:xfrm>
            <a:off x="685800" y="5238750"/>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Policy and coverage</a:t>
            </a:r>
          </a:p>
        </p:txBody>
      </p:sp>
      <p:sp>
        <p:nvSpPr>
          <p:cNvPr id="89" name="coverage_type, premium, deductible, limit"/>
          <p:cNvSpPr txBox="1"/>
          <p:nvPr/>
        </p:nvSpPr>
        <p:spPr>
          <a:xfrm>
            <a:off x="685800" y="56102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coverage_type, premium, deductible, limit</a:t>
            </a:r>
          </a:p>
        </p:txBody>
      </p:sp>
      <p:sp>
        <p:nvSpPr>
          <p:cNvPr id="90" name="Prior claims"/>
          <p:cNvSpPr txBox="1"/>
          <p:nvPr/>
        </p:nvSpPr>
        <p:spPr>
          <a:xfrm>
            <a:off x="6429375" y="3619500"/>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Prior claims</a:t>
            </a:r>
          </a:p>
        </p:txBody>
      </p:sp>
      <p:sp>
        <p:nvSpPr>
          <p:cNvPr id="91" name="prior_apd_claim_count, prior_al_claim_count"/>
          <p:cNvSpPr txBox="1"/>
          <p:nvPr/>
        </p:nvSpPr>
        <p:spPr>
          <a:xfrm>
            <a:off x="6429375" y="39909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prior_apd_claim_count, prior_al_claim_count</a:t>
            </a:r>
          </a:p>
        </p:txBody>
      </p:sp>
      <p:sp>
        <p:nvSpPr>
          <p:cNvPr id="92" name="Current-period outcomes"/>
          <p:cNvSpPr txBox="1"/>
          <p:nvPr/>
        </p:nvSpPr>
        <p:spPr>
          <a:xfrm>
            <a:off x="6429375" y="4429125"/>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Current-period outcomes</a:t>
            </a:r>
          </a:p>
        </p:txBody>
      </p:sp>
      <p:sp>
        <p:nvSpPr>
          <p:cNvPr id="93" name="claim_count, total_loss_amount, claim signals"/>
          <p:cNvSpPr txBox="1"/>
          <p:nvPr/>
        </p:nvSpPr>
        <p:spPr>
          <a:xfrm>
            <a:off x="6429375" y="4800600"/>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claim_count, total_loss_amount, claim signals</a:t>
            </a:r>
          </a:p>
        </p:txBody>
      </p:sp>
      <p:sp>
        <p:nvSpPr>
          <p:cNvPr id="94" name="Identifiers and dates"/>
          <p:cNvSpPr txBox="1"/>
          <p:nvPr/>
        </p:nvSpPr>
        <p:spPr>
          <a:xfrm>
            <a:off x="6429375" y="5238750"/>
            <a:ext cx="50482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Identifiers and dates</a:t>
            </a:r>
          </a:p>
        </p:txBody>
      </p:sp>
      <p:sp>
        <p:nvSpPr>
          <p:cNvPr id="95" name="policy_id, insured_id, capture and policy dat"/>
          <p:cNvSpPr txBox="1"/>
          <p:nvPr/>
        </p:nvSpPr>
        <p:spPr>
          <a:xfrm>
            <a:off x="6429375" y="56102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policy_id, insured_id, capture and policy dates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Data quality and cleaning</a:t>
            </a:r>
          </a:p>
        </p:txBody>
      </p:sp>
      <p:sp>
        <p:nvSpPr>
          <p:cNvPr id="100"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101" name="03"/>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03</a:t>
            </a:r>
          </a:p>
        </p:txBody>
      </p:sp>
      <p:sp>
        <p:nvSpPr>
          <p:cNvPr id="102" name="Footnote"/>
          <p:cNvSpPr txBox="1"/>
          <p:nvPr/>
        </p:nvSpPr>
        <p:spPr>
          <a:xfrm>
            <a:off x="685800" y="6191250"/>
            <a:ext cx="108204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2677D"/>
                </a:solidFill>
                <a:latin typeface="Nimbus Sans"/>
                <a:ea typeface="Nimbus Sans"/>
                <a:cs typeface="Nimbus Sans"/>
                <a:sym typeface="Nimbus Sans"/>
              </a:defRPr>
            </a:lvl1pPr>
          </a:lstStyle>
          <a:p>
            <a:pPr/>
            <a:r>
              <a:t>All 3,000 scoring lines remain after validation.</a:t>
            </a:r>
          </a:p>
        </p:txBody>
      </p:sp>
      <p:sp>
        <p:nvSpPr>
          <p:cNvPr id="103" name="Raw rows"/>
          <p:cNvSpPr txBox="1"/>
          <p:nvPr/>
        </p:nvSpPr>
        <p:spPr>
          <a:xfrm>
            <a:off x="685800" y="1876425"/>
            <a:ext cx="2095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52677D"/>
                </a:solidFill>
                <a:latin typeface="Nimbus Sans"/>
                <a:ea typeface="Nimbus Sans"/>
                <a:cs typeface="Nimbus Sans"/>
                <a:sym typeface="Nimbus Sans"/>
              </a:defRPr>
            </a:lvl1pPr>
          </a:lstStyle>
          <a:p>
            <a:pPr/>
            <a:r>
              <a:t>Raw rows</a:t>
            </a:r>
          </a:p>
        </p:txBody>
      </p:sp>
      <p:sp>
        <p:nvSpPr>
          <p:cNvPr id="104" name="Duplicate copies"/>
          <p:cNvSpPr txBox="1"/>
          <p:nvPr/>
        </p:nvSpPr>
        <p:spPr>
          <a:xfrm>
            <a:off x="3676650" y="1876425"/>
            <a:ext cx="1714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52677D"/>
                </a:solidFill>
                <a:latin typeface="Nimbus Sans"/>
                <a:ea typeface="Nimbus Sans"/>
                <a:cs typeface="Nimbus Sans"/>
                <a:sym typeface="Nimbus Sans"/>
              </a:defRPr>
            </a:lvl1pPr>
          </a:lstStyle>
          <a:p>
            <a:pPr/>
            <a:r>
              <a:t>Duplicate copies</a:t>
            </a:r>
          </a:p>
        </p:txBody>
      </p:sp>
      <p:sp>
        <p:nvSpPr>
          <p:cNvPr id="105" name="Invalid periods"/>
          <p:cNvSpPr txBox="1"/>
          <p:nvPr/>
        </p:nvSpPr>
        <p:spPr>
          <a:xfrm>
            <a:off x="6477000" y="1876425"/>
            <a:ext cx="17145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52677D"/>
                </a:solidFill>
                <a:latin typeface="Nimbus Sans"/>
                <a:ea typeface="Nimbus Sans"/>
                <a:cs typeface="Nimbus Sans"/>
                <a:sym typeface="Nimbus Sans"/>
              </a:defRPr>
            </a:lvl1pPr>
          </a:lstStyle>
          <a:p>
            <a:pPr/>
            <a:r>
              <a:t>Invalid periods</a:t>
            </a:r>
          </a:p>
        </p:txBody>
      </p:sp>
      <p:sp>
        <p:nvSpPr>
          <p:cNvPr id="106" name="Retained rows"/>
          <p:cNvSpPr txBox="1"/>
          <p:nvPr/>
        </p:nvSpPr>
        <p:spPr>
          <a:xfrm>
            <a:off x="9429750" y="1876425"/>
            <a:ext cx="20764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52677D"/>
                </a:solidFill>
                <a:latin typeface="Nimbus Sans"/>
                <a:ea typeface="Nimbus Sans"/>
                <a:cs typeface="Nimbus Sans"/>
                <a:sym typeface="Nimbus Sans"/>
              </a:defRPr>
            </a:lvl1pPr>
          </a:lstStyle>
          <a:p>
            <a:pPr/>
            <a:r>
              <a:t>Retained rows</a:t>
            </a:r>
          </a:p>
        </p:txBody>
      </p:sp>
      <p:sp>
        <p:nvSpPr>
          <p:cNvPr id="107" name="Record checks"/>
          <p:cNvSpPr txBox="1"/>
          <p:nvPr/>
        </p:nvSpPr>
        <p:spPr>
          <a:xfrm>
            <a:off x="685800" y="3781425"/>
            <a:ext cx="48101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Record checks</a:t>
            </a:r>
          </a:p>
        </p:txBody>
      </p:sp>
      <p:sp>
        <p:nvSpPr>
          <p:cNvPr id="108" name="Normalize category spelling and case.…"/>
          <p:cNvSpPr txBox="1"/>
          <p:nvPr/>
        </p:nvSpPr>
        <p:spPr>
          <a:xfrm>
            <a:off x="685800" y="4362450"/>
            <a:ext cx="4810125" cy="1143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Normalize category spelling and case.</a:t>
            </a:r>
          </a:p>
          <a:p>
            <a:pPr marL="228600" indent="-114300">
              <a:spcBef>
                <a:spcPts val="1200"/>
              </a:spcBef>
              <a:buSzPct val="100000"/>
              <a:buChar char="•"/>
              <a:defRPr>
                <a:solidFill>
                  <a:srgbClr val="142F4D"/>
                </a:solidFill>
                <a:latin typeface="Nimbus Sans"/>
                <a:ea typeface="Nimbus Sans"/>
                <a:cs typeface="Nimbus Sans"/>
                <a:sym typeface="Nimbus Sans"/>
              </a:defRPr>
            </a:pPr>
            <a:r>
              <a:t>Remove exact historical copies.</a:t>
            </a:r>
          </a:p>
          <a:p>
            <a:pPr marL="228600" indent="-114300">
              <a:spcBef>
                <a:spcPts val="1200"/>
              </a:spcBef>
              <a:buSzPct val="100000"/>
              <a:buChar char="•"/>
              <a:defRPr>
                <a:solidFill>
                  <a:srgbClr val="142F4D"/>
                </a:solidFill>
                <a:latin typeface="Nimbus Sans"/>
                <a:ea typeface="Nimbus Sans"/>
                <a:cs typeface="Nimbus Sans"/>
                <a:sym typeface="Nimbus Sans"/>
              </a:defRPr>
            </a:pPr>
            <a:r>
              <a:t>Check unique IDs and valid policy dates.</a:t>
            </a:r>
          </a:p>
        </p:txBody>
      </p:sp>
      <p:sp>
        <p:nvSpPr>
          <p:cNvPr id="109" name="Invalid predictor values"/>
          <p:cNvSpPr txBox="1"/>
          <p:nvPr/>
        </p:nvSpPr>
        <p:spPr>
          <a:xfrm>
            <a:off x="6429375" y="3781425"/>
            <a:ext cx="50768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Invalid predictor values</a:t>
            </a:r>
          </a:p>
        </p:txBody>
      </p:sp>
      <p:sp>
        <p:nvSpPr>
          <p:cNvPr id="110" name="Mark 5 negative premiums as missing.…"/>
          <p:cNvSpPr txBox="1"/>
          <p:nvPr/>
        </p:nvSpPr>
        <p:spPr>
          <a:xfrm>
            <a:off x="6429375" y="4362450"/>
            <a:ext cx="5076825" cy="142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Mark 5 negative premiums as missing.</a:t>
            </a:r>
          </a:p>
          <a:p>
            <a:pPr marL="228600" indent="-114300">
              <a:spcBef>
                <a:spcPts val="1200"/>
              </a:spcBef>
              <a:buSzPct val="100000"/>
              <a:buChar char="•"/>
              <a:defRPr>
                <a:solidFill>
                  <a:srgbClr val="142F4D"/>
                </a:solidFill>
                <a:latin typeface="Nimbus Sans"/>
                <a:ea typeface="Nimbus Sans"/>
                <a:cs typeface="Nimbus Sans"/>
                <a:sym typeface="Nimbus Sans"/>
              </a:defRPr>
            </a:pPr>
            <a:r>
              <a:t>Mark 3 conflicting fleet pairs as missing.</a:t>
            </a:r>
          </a:p>
          <a:p>
            <a:pPr marL="228600" indent="-114300">
              <a:spcBef>
                <a:spcPts val="1200"/>
              </a:spcBef>
              <a:buSzPct val="100000"/>
              <a:buChar char="•"/>
              <a:defRPr>
                <a:solidFill>
                  <a:srgbClr val="142F4D"/>
                </a:solidFill>
                <a:latin typeface="Nimbus Sans"/>
                <a:ea typeface="Nimbus Sans"/>
                <a:cs typeface="Nimbus Sans"/>
                <a:sym typeface="Nimbus Sans"/>
              </a:defRPr>
            </a:pPr>
            <a:r>
              <a:t>Retain zero fleets and protect ratio denominators.</a:t>
            </a:r>
          </a:p>
        </p:txBody>
      </p:sp>
      <p:sp>
        <p:nvSpPr>
          <p:cNvPr id="111" name="15,075"/>
          <p:cNvSpPr txBox="1"/>
          <p:nvPr/>
        </p:nvSpPr>
        <p:spPr>
          <a:xfrm>
            <a:off x="685800" y="2371725"/>
            <a:ext cx="2095500" cy="698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600">
                <a:solidFill>
                  <a:srgbClr val="005DAA"/>
                </a:solidFill>
                <a:latin typeface="Nimbus Sans"/>
                <a:ea typeface="Nimbus Sans"/>
                <a:cs typeface="Nimbus Sans"/>
                <a:sym typeface="Nimbus Sans"/>
              </a:defRPr>
            </a:lvl1pPr>
          </a:lstStyle>
          <a:p>
            <a:pPr/>
            <a:r>
              <a:t>15,075</a:t>
            </a:r>
          </a:p>
        </p:txBody>
      </p:sp>
      <p:sp>
        <p:nvSpPr>
          <p:cNvPr id="112" name="75"/>
          <p:cNvSpPr txBox="1"/>
          <p:nvPr/>
        </p:nvSpPr>
        <p:spPr>
          <a:xfrm>
            <a:off x="3676650" y="2371725"/>
            <a:ext cx="1714500" cy="698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600">
                <a:solidFill>
                  <a:srgbClr val="005DAA"/>
                </a:solidFill>
                <a:latin typeface="Nimbus Sans"/>
                <a:ea typeface="Nimbus Sans"/>
                <a:cs typeface="Nimbus Sans"/>
                <a:sym typeface="Nimbus Sans"/>
              </a:defRPr>
            </a:lvl1pPr>
          </a:lstStyle>
          <a:p>
            <a:pPr/>
            <a:r>
              <a:t>75</a:t>
            </a:r>
          </a:p>
        </p:txBody>
      </p:sp>
      <p:sp>
        <p:nvSpPr>
          <p:cNvPr id="113" name="10"/>
          <p:cNvSpPr txBox="1"/>
          <p:nvPr/>
        </p:nvSpPr>
        <p:spPr>
          <a:xfrm>
            <a:off x="6477000" y="2371725"/>
            <a:ext cx="1714500" cy="698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600">
                <a:solidFill>
                  <a:srgbClr val="005DAA"/>
                </a:solidFill>
                <a:latin typeface="Nimbus Sans"/>
                <a:ea typeface="Nimbus Sans"/>
                <a:cs typeface="Nimbus Sans"/>
                <a:sym typeface="Nimbus Sans"/>
              </a:defRPr>
            </a:lvl1pPr>
          </a:lstStyle>
          <a:p>
            <a:pPr/>
            <a:r>
              <a:t>10</a:t>
            </a:r>
          </a:p>
        </p:txBody>
      </p:sp>
      <p:sp>
        <p:nvSpPr>
          <p:cNvPr id="114" name="14,990"/>
          <p:cNvSpPr txBox="1"/>
          <p:nvPr/>
        </p:nvSpPr>
        <p:spPr>
          <a:xfrm>
            <a:off x="9429750" y="2371725"/>
            <a:ext cx="2076450" cy="698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600">
                <a:solidFill>
                  <a:srgbClr val="005DAA"/>
                </a:solidFill>
                <a:latin typeface="Nimbus Sans"/>
                <a:ea typeface="Nimbus Sans"/>
                <a:cs typeface="Nimbus Sans"/>
                <a:sym typeface="Nimbus Sans"/>
              </a:defRPr>
            </a:lvl1pPr>
          </a:lstStyle>
          <a:p>
            <a:pPr/>
            <a:r>
              <a:t>14,990</a:t>
            </a:r>
          </a:p>
        </p:txBody>
      </p:sp>
      <p:sp>
        <p:nvSpPr>
          <p:cNvPr id="115" name="Cleaning operator 318"/>
          <p:cNvSpPr txBox="1"/>
          <p:nvPr/>
        </p:nvSpPr>
        <p:spPr>
          <a:xfrm>
            <a:off x="3028950" y="2419350"/>
            <a:ext cx="3810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000">
                <a:solidFill>
                  <a:srgbClr val="005DAA"/>
                </a:solidFill>
                <a:latin typeface="Nimbus Sans"/>
                <a:ea typeface="Nimbus Sans"/>
                <a:cs typeface="Nimbus Sans"/>
                <a:sym typeface="Nimbus Sans"/>
              </a:defRPr>
            </a:lvl1pPr>
          </a:lstStyle>
          <a:p>
            <a:pPr/>
            <a:r>
              <a:t>−</a:t>
            </a:r>
          </a:p>
        </p:txBody>
      </p:sp>
      <p:sp>
        <p:nvSpPr>
          <p:cNvPr id="116" name="Cleaning operator 603"/>
          <p:cNvSpPr txBox="1"/>
          <p:nvPr/>
        </p:nvSpPr>
        <p:spPr>
          <a:xfrm>
            <a:off x="5743575" y="2419350"/>
            <a:ext cx="3810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000">
                <a:solidFill>
                  <a:srgbClr val="005DAA"/>
                </a:solidFill>
                <a:latin typeface="Nimbus Sans"/>
                <a:ea typeface="Nimbus Sans"/>
                <a:cs typeface="Nimbus Sans"/>
                <a:sym typeface="Nimbus Sans"/>
              </a:defRPr>
            </a:lvl1pPr>
          </a:lstStyle>
          <a:p>
            <a:pPr/>
            <a:r>
              <a:t>−</a:t>
            </a:r>
          </a:p>
        </p:txBody>
      </p:sp>
      <p:sp>
        <p:nvSpPr>
          <p:cNvPr id="117" name="Cleaning operator 913"/>
          <p:cNvSpPr txBox="1"/>
          <p:nvPr/>
        </p:nvSpPr>
        <p:spPr>
          <a:xfrm>
            <a:off x="8696325" y="2419350"/>
            <a:ext cx="3810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000">
                <a:solidFill>
                  <a:srgbClr val="005DAA"/>
                </a:solidFill>
                <a:latin typeface="Nimbus Sans"/>
                <a:ea typeface="Nimbus Sans"/>
                <a:cs typeface="Nimbus Sans"/>
                <a:sym typeface="Nimbus Sans"/>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Claim occurrence and risk patterns</a:t>
            </a:r>
          </a:p>
        </p:txBody>
      </p:sp>
      <p:sp>
        <p:nvSpPr>
          <p:cNvPr id="122"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123" name="04"/>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04</a:t>
            </a:r>
          </a:p>
        </p:txBody>
      </p:sp>
      <p:sp>
        <p:nvSpPr>
          <p:cNvPr id="124" name="12.36%"/>
          <p:cNvSpPr txBox="1"/>
          <p:nvPr/>
        </p:nvSpPr>
        <p:spPr>
          <a:xfrm>
            <a:off x="685800" y="1695450"/>
            <a:ext cx="323850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800">
                <a:solidFill>
                  <a:srgbClr val="142F4D"/>
                </a:solidFill>
                <a:latin typeface="Nimbus Sans"/>
                <a:ea typeface="Nimbus Sans"/>
                <a:cs typeface="Nimbus Sans"/>
                <a:sym typeface="Nimbus Sans"/>
              </a:defRPr>
            </a:lvl1pPr>
          </a:lstStyle>
          <a:p>
            <a:pPr/>
            <a:r>
              <a:t>12.36%</a:t>
            </a:r>
          </a:p>
        </p:txBody>
      </p:sp>
      <p:sp>
        <p:nvSpPr>
          <p:cNvPr id="125" name="Overall claim occurrence"/>
          <p:cNvSpPr txBox="1"/>
          <p:nvPr/>
        </p:nvSpPr>
        <p:spPr>
          <a:xfrm>
            <a:off x="685800" y="2476500"/>
            <a:ext cx="32385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2677D"/>
                </a:solidFill>
                <a:latin typeface="Nimbus Sans"/>
                <a:ea typeface="Nimbus Sans"/>
                <a:cs typeface="Nimbus Sans"/>
                <a:sym typeface="Nimbus Sans"/>
              </a:defRPr>
            </a:lvl1pPr>
          </a:lstStyle>
          <a:p>
            <a:pPr/>
            <a:r>
              <a:t>Overall claim occurrence</a:t>
            </a:r>
          </a:p>
        </p:txBody>
      </p:sp>
      <p:sp>
        <p:nvSpPr>
          <p:cNvPr id="126" name="15.63%"/>
          <p:cNvSpPr txBox="1"/>
          <p:nvPr/>
        </p:nvSpPr>
        <p:spPr>
          <a:xfrm>
            <a:off x="4495800" y="1695450"/>
            <a:ext cx="323850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800">
                <a:solidFill>
                  <a:srgbClr val="005DAA"/>
                </a:solidFill>
                <a:latin typeface="Nimbus Sans"/>
                <a:ea typeface="Nimbus Sans"/>
                <a:cs typeface="Nimbus Sans"/>
                <a:sym typeface="Nimbus Sans"/>
              </a:defRPr>
            </a:lvl1pPr>
          </a:lstStyle>
          <a:p>
            <a:pPr/>
            <a:r>
              <a:t>15.63%</a:t>
            </a:r>
          </a:p>
        </p:txBody>
      </p:sp>
      <p:sp>
        <p:nvSpPr>
          <p:cNvPr id="127" name="APD claim occurrence"/>
          <p:cNvSpPr txBox="1"/>
          <p:nvPr/>
        </p:nvSpPr>
        <p:spPr>
          <a:xfrm>
            <a:off x="4495800" y="2476500"/>
            <a:ext cx="32385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2677D"/>
                </a:solidFill>
                <a:latin typeface="Nimbus Sans"/>
                <a:ea typeface="Nimbus Sans"/>
                <a:cs typeface="Nimbus Sans"/>
                <a:sym typeface="Nimbus Sans"/>
              </a:defRPr>
            </a:lvl1pPr>
          </a:lstStyle>
          <a:p>
            <a:pPr/>
            <a:r>
              <a:t>APD claim occurrence</a:t>
            </a:r>
          </a:p>
        </p:txBody>
      </p:sp>
      <p:sp>
        <p:nvSpPr>
          <p:cNvPr id="128" name="9.10%"/>
          <p:cNvSpPr txBox="1"/>
          <p:nvPr/>
        </p:nvSpPr>
        <p:spPr>
          <a:xfrm>
            <a:off x="8305800" y="1695450"/>
            <a:ext cx="320040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800">
                <a:solidFill>
                  <a:srgbClr val="008B87"/>
                </a:solidFill>
                <a:latin typeface="Nimbus Sans"/>
                <a:ea typeface="Nimbus Sans"/>
                <a:cs typeface="Nimbus Sans"/>
                <a:sym typeface="Nimbus Sans"/>
              </a:defRPr>
            </a:lvl1pPr>
          </a:lstStyle>
          <a:p>
            <a:pPr/>
            <a:r>
              <a:t>9.10%</a:t>
            </a:r>
          </a:p>
        </p:txBody>
      </p:sp>
      <p:sp>
        <p:nvSpPr>
          <p:cNvPr id="129" name="AL claim occurrence"/>
          <p:cNvSpPr txBox="1"/>
          <p:nvPr/>
        </p:nvSpPr>
        <p:spPr>
          <a:xfrm>
            <a:off x="8305800" y="2476500"/>
            <a:ext cx="32004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2677D"/>
                </a:solidFill>
                <a:latin typeface="Nimbus Sans"/>
                <a:ea typeface="Nimbus Sans"/>
                <a:cs typeface="Nimbus Sans"/>
                <a:sym typeface="Nimbus Sans"/>
              </a:defRPr>
            </a:lvl1pPr>
          </a:lstStyle>
          <a:p>
            <a:pPr/>
            <a:r>
              <a:t>AL claim occurrence</a:t>
            </a:r>
          </a:p>
        </p:txBody>
      </p:sp>
      <p:sp>
        <p:nvSpPr>
          <p:cNvPr id="130" name="Fleet size"/>
          <p:cNvSpPr txBox="1"/>
          <p:nvPr/>
        </p:nvSpPr>
        <p:spPr>
          <a:xfrm>
            <a:off x="685800" y="3209925"/>
            <a:ext cx="3352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42F4D"/>
                </a:solidFill>
                <a:latin typeface="Nimbus Sans"/>
                <a:ea typeface="Nimbus Sans"/>
                <a:cs typeface="Nimbus Sans"/>
                <a:sym typeface="Nimbus Sans"/>
              </a:defRPr>
            </a:lvl1pPr>
          </a:lstStyle>
          <a:p>
            <a:pPr/>
            <a:r>
              <a:t>Fleet size</a:t>
            </a:r>
          </a:p>
        </p:txBody>
      </p:sp>
      <p:graphicFrame>
        <p:nvGraphicFramePr>
          <p:cNvPr id="131" name="Chart"/>
          <p:cNvGraphicFramePr/>
          <p:nvPr/>
        </p:nvGraphicFramePr>
        <p:xfrm>
          <a:off x="493914" y="3644900"/>
          <a:ext cx="3482457" cy="2395009"/>
        </p:xfrm>
        <a:graphic xmlns:a="http://schemas.openxmlformats.org/drawingml/2006/main">
          <a:graphicData uri="http://schemas.openxmlformats.org/drawingml/2006/chart">
            <c:chart xmlns:c="http://schemas.openxmlformats.org/drawingml/2006/chart" r:id="rId3"/>
          </a:graphicData>
        </a:graphic>
      </p:graphicFrame>
      <p:sp>
        <p:nvSpPr>
          <p:cNvPr id="132" name="Same-coverage prior claims"/>
          <p:cNvSpPr txBox="1"/>
          <p:nvPr/>
        </p:nvSpPr>
        <p:spPr>
          <a:xfrm>
            <a:off x="4419600" y="3209925"/>
            <a:ext cx="3352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42F4D"/>
                </a:solidFill>
                <a:latin typeface="Nimbus Sans"/>
                <a:ea typeface="Nimbus Sans"/>
                <a:cs typeface="Nimbus Sans"/>
                <a:sym typeface="Nimbus Sans"/>
              </a:defRPr>
            </a:lvl1pPr>
          </a:lstStyle>
          <a:p>
            <a:pPr/>
            <a:r>
              <a:t>Same-coverage prior claims</a:t>
            </a:r>
          </a:p>
        </p:txBody>
      </p:sp>
      <p:graphicFrame>
        <p:nvGraphicFramePr>
          <p:cNvPr id="133" name="Chart"/>
          <p:cNvGraphicFramePr/>
          <p:nvPr/>
        </p:nvGraphicFramePr>
        <p:xfrm>
          <a:off x="4227714" y="3644900"/>
          <a:ext cx="3482457" cy="2395009"/>
        </p:xfrm>
        <a:graphic xmlns:a="http://schemas.openxmlformats.org/drawingml/2006/main">
          <a:graphicData uri="http://schemas.openxmlformats.org/drawingml/2006/chart">
            <c:chart xmlns:c="http://schemas.openxmlformats.org/drawingml/2006/chart" r:id="rId4"/>
          </a:graphicData>
        </a:graphic>
      </p:graphicFrame>
      <p:sp>
        <p:nvSpPr>
          <p:cNvPr id="134" name="External risk score"/>
          <p:cNvSpPr txBox="1"/>
          <p:nvPr/>
        </p:nvSpPr>
        <p:spPr>
          <a:xfrm>
            <a:off x="8153400" y="3209925"/>
            <a:ext cx="3352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42F4D"/>
                </a:solidFill>
                <a:latin typeface="Nimbus Sans"/>
                <a:ea typeface="Nimbus Sans"/>
                <a:cs typeface="Nimbus Sans"/>
                <a:sym typeface="Nimbus Sans"/>
              </a:defRPr>
            </a:lvl1pPr>
          </a:lstStyle>
          <a:p>
            <a:pPr/>
            <a:r>
              <a:t>External risk score</a:t>
            </a:r>
          </a:p>
        </p:txBody>
      </p:sp>
      <p:graphicFrame>
        <p:nvGraphicFramePr>
          <p:cNvPr id="135" name="Chart"/>
          <p:cNvGraphicFramePr/>
          <p:nvPr/>
        </p:nvGraphicFramePr>
        <p:xfrm>
          <a:off x="7961514" y="3644900"/>
          <a:ext cx="3482456" cy="2395009"/>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Capture timing and population shifts</a:t>
            </a:r>
          </a:p>
        </p:txBody>
      </p:sp>
      <p:sp>
        <p:nvSpPr>
          <p:cNvPr id="140"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141" name="05"/>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05</a:t>
            </a:r>
          </a:p>
        </p:txBody>
      </p:sp>
      <p:sp>
        <p:nvSpPr>
          <p:cNvPr id="142" name="History: 2020-2022 captures. Scoring: 2023-20"/>
          <p:cNvSpPr txBox="1"/>
          <p:nvPr/>
        </p:nvSpPr>
        <p:spPr>
          <a:xfrm>
            <a:off x="685800" y="1809750"/>
            <a:ext cx="108204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52677D"/>
                </a:solidFill>
                <a:latin typeface="Nimbus Sans"/>
                <a:ea typeface="Nimbus Sans"/>
                <a:cs typeface="Nimbus Sans"/>
                <a:sym typeface="Nimbus Sans"/>
              </a:defRPr>
            </a:lvl1pPr>
          </a:lstStyle>
          <a:p>
            <a:pPr/>
            <a:r>
              <a:t>History: 2020-2022 captures. Scoring: 2023-2024 captures.</a:t>
            </a:r>
          </a:p>
        </p:txBody>
      </p:sp>
      <p:sp>
        <p:nvSpPr>
          <p:cNvPr id="143" name="Mean driver age"/>
          <p:cNvSpPr txBox="1"/>
          <p:nvPr/>
        </p:nvSpPr>
        <p:spPr>
          <a:xfrm>
            <a:off x="685800" y="2552700"/>
            <a:ext cx="33813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42F4D"/>
                </a:solidFill>
                <a:latin typeface="Nimbus Sans"/>
                <a:ea typeface="Nimbus Sans"/>
                <a:cs typeface="Nimbus Sans"/>
                <a:sym typeface="Nimbus Sans"/>
              </a:defRPr>
            </a:lvl1pPr>
          </a:lstStyle>
          <a:p>
            <a:pPr/>
            <a:r>
              <a:t>Mean driver age</a:t>
            </a:r>
          </a:p>
        </p:txBody>
      </p:sp>
      <p:graphicFrame>
        <p:nvGraphicFramePr>
          <p:cNvPr id="144" name="Chart"/>
          <p:cNvGraphicFramePr/>
          <p:nvPr/>
        </p:nvGraphicFramePr>
        <p:xfrm>
          <a:off x="680296" y="2974975"/>
          <a:ext cx="3250354" cy="2511425"/>
        </p:xfrm>
        <a:graphic xmlns:a="http://schemas.openxmlformats.org/drawingml/2006/main">
          <a:graphicData uri="http://schemas.openxmlformats.org/drawingml/2006/chart">
            <c:chart xmlns:c="http://schemas.openxmlformats.org/drawingml/2006/chart" r:id="rId3"/>
          </a:graphicData>
        </a:graphic>
      </p:graphicFrame>
      <p:sp>
        <p:nvSpPr>
          <p:cNvPr id="145" name="Mean fleet mileage (000)"/>
          <p:cNvSpPr txBox="1"/>
          <p:nvPr/>
        </p:nvSpPr>
        <p:spPr>
          <a:xfrm>
            <a:off x="4467225" y="2552700"/>
            <a:ext cx="33813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142F4D"/>
                </a:solidFill>
                <a:latin typeface="Nimbus Sans"/>
                <a:ea typeface="Nimbus Sans"/>
                <a:cs typeface="Nimbus Sans"/>
                <a:sym typeface="Nimbus Sans"/>
              </a:defRPr>
            </a:lvl1pPr>
          </a:lstStyle>
          <a:p>
            <a:pPr/>
            <a:r>
              <a:t>Mean fleet mileage (000)</a:t>
            </a:r>
          </a:p>
        </p:txBody>
      </p:sp>
      <p:graphicFrame>
        <p:nvGraphicFramePr>
          <p:cNvPr id="146" name="Chart"/>
          <p:cNvGraphicFramePr/>
          <p:nvPr/>
        </p:nvGraphicFramePr>
        <p:xfrm>
          <a:off x="4461721" y="2974975"/>
          <a:ext cx="3250355" cy="2511425"/>
        </p:xfrm>
        <a:graphic xmlns:a="http://schemas.openxmlformats.org/drawingml/2006/main">
          <a:graphicData uri="http://schemas.openxmlformats.org/drawingml/2006/chart">
            <c:chart xmlns:c="http://schemas.openxmlformats.org/drawingml/2006/chart" r:id="rId4"/>
          </a:graphicData>
        </a:graphic>
      </p:graphicFrame>
      <p:sp>
        <p:nvSpPr>
          <p:cNvPr id="147" name="733 of 739"/>
          <p:cNvSpPr txBox="1"/>
          <p:nvPr/>
        </p:nvSpPr>
        <p:spPr>
          <a:xfrm>
            <a:off x="8553450" y="2686050"/>
            <a:ext cx="29527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005DAA"/>
                </a:solidFill>
                <a:latin typeface="Nimbus Sans"/>
                <a:ea typeface="Nimbus Sans"/>
                <a:cs typeface="Nimbus Sans"/>
                <a:sym typeface="Nimbus Sans"/>
              </a:defRPr>
            </a:lvl1pPr>
          </a:lstStyle>
          <a:p>
            <a:pPr/>
            <a:r>
              <a:t>733 of 739</a:t>
            </a:r>
          </a:p>
        </p:txBody>
      </p:sp>
      <p:sp>
        <p:nvSpPr>
          <p:cNvPr id="148" name="Scoring companies alsoappear in historical d"/>
          <p:cNvSpPr txBox="1"/>
          <p:nvPr/>
        </p:nvSpPr>
        <p:spPr>
          <a:xfrm>
            <a:off x="8553450" y="3314700"/>
            <a:ext cx="2952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42F4D"/>
                </a:solidFill>
                <a:latin typeface="Nimbus Sans"/>
                <a:ea typeface="Nimbus Sans"/>
                <a:cs typeface="Nimbus Sans"/>
                <a:sym typeface="Nimbus Sans"/>
              </a:defRPr>
            </a:pPr>
            <a:r>
              <a:t>Scoring companies also</a:t>
            </a:r>
          </a:p>
          <a:p>
            <a:pPr>
              <a:defRPr>
                <a:solidFill>
                  <a:srgbClr val="142F4D"/>
                </a:solidFill>
                <a:latin typeface="Nimbus Sans"/>
                <a:ea typeface="Nimbus Sans"/>
                <a:cs typeface="Nimbus Sans"/>
                <a:sym typeface="Nimbus Sans"/>
              </a:defRPr>
            </a:pPr>
            <a:r>
              <a:t>appear in historical data.</a:t>
            </a:r>
          </a:p>
        </p:txBody>
      </p:sp>
      <p:sp>
        <p:nvSpPr>
          <p:cNvPr id="149" name="60 new-category lines"/>
          <p:cNvSpPr txBox="1"/>
          <p:nvPr/>
        </p:nvSpPr>
        <p:spPr>
          <a:xfrm>
            <a:off x="8553450" y="4448175"/>
            <a:ext cx="29527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8B87"/>
                </a:solidFill>
                <a:latin typeface="Nimbus Sans"/>
                <a:ea typeface="Nimbus Sans"/>
                <a:cs typeface="Nimbus Sans"/>
                <a:sym typeface="Nimbus Sans"/>
              </a:defRPr>
            </a:lvl1pPr>
          </a:lstStyle>
          <a:p>
            <a:pPr/>
            <a:r>
              <a:t>60 new-category lines</a:t>
            </a:r>
          </a:p>
        </p:txBody>
      </p:sp>
      <p:sp>
        <p:nvSpPr>
          <p:cNvPr id="150" name="Rideshare represents 2%of scoring rows."/>
          <p:cNvSpPr txBox="1"/>
          <p:nvPr/>
        </p:nvSpPr>
        <p:spPr>
          <a:xfrm>
            <a:off x="8553450" y="4933950"/>
            <a:ext cx="29527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42F4D"/>
                </a:solidFill>
                <a:latin typeface="Nimbus Sans"/>
                <a:ea typeface="Nimbus Sans"/>
                <a:cs typeface="Nimbus Sans"/>
                <a:sym typeface="Nimbus Sans"/>
              </a:defRPr>
            </a:pPr>
            <a:r>
              <a:t>Rideshare represents 2%</a:t>
            </a:r>
          </a:p>
          <a:p>
            <a:pPr>
              <a:defRPr>
                <a:solidFill>
                  <a:srgbClr val="142F4D"/>
                </a:solidFill>
                <a:latin typeface="Nimbus Sans"/>
                <a:ea typeface="Nimbus Sans"/>
                <a:cs typeface="Nimbus Sans"/>
                <a:sym typeface="Nimbus Sans"/>
              </a:defRPr>
            </a:pPr>
            <a:r>
              <a:t>of scoring rows.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Target and feature preparation</a:t>
            </a:r>
          </a:p>
        </p:txBody>
      </p:sp>
      <p:sp>
        <p:nvSpPr>
          <p:cNvPr id="155"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156" name="06"/>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06</a:t>
            </a:r>
          </a:p>
        </p:txBody>
      </p:sp>
      <p:sp>
        <p:nvSpPr>
          <p:cNvPr id="157" name="Footnote"/>
          <p:cNvSpPr txBox="1"/>
          <p:nvPr/>
        </p:nvSpPr>
        <p:spPr>
          <a:xfrm>
            <a:off x="685800" y="6191250"/>
            <a:ext cx="108204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2677D"/>
                </a:solidFill>
                <a:latin typeface="Nimbus Sans"/>
                <a:ea typeface="Nimbus Sans"/>
                <a:cs typeface="Nimbus Sans"/>
                <a:sym typeface="Nimbus Sans"/>
              </a:defRPr>
            </a:lvl1pPr>
          </a:lstStyle>
          <a:p>
            <a:pPr/>
            <a:r>
              <a:t>Excluded: current-period claim signals, late payments, unavailable safety field, IDs and dates.</a:t>
            </a:r>
          </a:p>
        </p:txBody>
      </p:sp>
      <p:sp>
        <p:nvSpPr>
          <p:cNvPr id="158" name="had_claim = (claim_count &gt; 0)"/>
          <p:cNvSpPr txBox="1"/>
          <p:nvPr/>
        </p:nvSpPr>
        <p:spPr>
          <a:xfrm>
            <a:off x="685800" y="1724025"/>
            <a:ext cx="9525000"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700">
                <a:solidFill>
                  <a:srgbClr val="005DAA"/>
                </a:solidFill>
                <a:latin typeface="Nimbus Sans"/>
                <a:ea typeface="Nimbus Sans"/>
                <a:cs typeface="Nimbus Sans"/>
                <a:sym typeface="Nimbus Sans"/>
              </a:defRPr>
            </a:lvl1pPr>
          </a:lstStyle>
          <a:p>
            <a:pPr/>
            <a:r>
              <a:t>had_claim = (claim_count &gt; 0)</a:t>
            </a:r>
          </a:p>
        </p:txBody>
      </p:sp>
      <p:sp>
        <p:nvSpPr>
          <p:cNvPr id="159" name="18 approved raw fields and 7 derived features"/>
          <p:cNvSpPr txBox="1"/>
          <p:nvPr/>
        </p:nvSpPr>
        <p:spPr>
          <a:xfrm>
            <a:off x="685800" y="2409825"/>
            <a:ext cx="95250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42F4D"/>
                </a:solidFill>
                <a:latin typeface="Nimbus Sans"/>
                <a:ea typeface="Nimbus Sans"/>
                <a:cs typeface="Nimbus Sans"/>
                <a:sym typeface="Nimbus Sans"/>
              </a:defRPr>
            </a:lvl1pPr>
          </a:lstStyle>
          <a:p>
            <a:pPr/>
            <a:r>
              <a:t>18 approved raw fields and 7 derived features</a:t>
            </a:r>
          </a:p>
        </p:txBody>
      </p:sp>
      <p:sp>
        <p:nvSpPr>
          <p:cNvPr id="160" name="Approved inputs"/>
          <p:cNvSpPr txBox="1"/>
          <p:nvPr/>
        </p:nvSpPr>
        <p:spPr>
          <a:xfrm>
            <a:off x="685800" y="3352800"/>
            <a:ext cx="31337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Approved inputs</a:t>
            </a:r>
          </a:p>
        </p:txBody>
      </p:sp>
      <p:sp>
        <p:nvSpPr>
          <p:cNvPr id="161" name="Fleet and driver characteristics…"/>
          <p:cNvSpPr txBox="1"/>
          <p:nvPr/>
        </p:nvSpPr>
        <p:spPr>
          <a:xfrm>
            <a:off x="685800" y="3990975"/>
            <a:ext cx="3133725" cy="1981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Fleet and driver characteristics</a:t>
            </a:r>
          </a:p>
          <a:p>
            <a:pPr marL="228600" indent="-114300">
              <a:spcBef>
                <a:spcPts val="1200"/>
              </a:spcBef>
              <a:buSzPct val="100000"/>
              <a:buChar char="•"/>
              <a:defRPr>
                <a:solidFill>
                  <a:srgbClr val="142F4D"/>
                </a:solidFill>
                <a:latin typeface="Nimbus Sans"/>
                <a:ea typeface="Nimbus Sans"/>
                <a:cs typeface="Nimbus Sans"/>
                <a:sym typeface="Nimbus Sans"/>
              </a:defRPr>
            </a:pPr>
            <a:r>
              <a:t>Business and policy attributes</a:t>
            </a:r>
          </a:p>
          <a:p>
            <a:pPr marL="228600" indent="-114300">
              <a:spcBef>
                <a:spcPts val="1200"/>
              </a:spcBef>
              <a:buSzPct val="100000"/>
              <a:buChar char="•"/>
              <a:defRPr>
                <a:solidFill>
                  <a:srgbClr val="142F4D"/>
                </a:solidFill>
                <a:latin typeface="Nimbus Sans"/>
                <a:ea typeface="Nimbus Sans"/>
                <a:cs typeface="Nimbus Sans"/>
                <a:sym typeface="Nimbus Sans"/>
              </a:defRPr>
            </a:pPr>
            <a:r>
              <a:t>Prior claims and external risk</a:t>
            </a:r>
          </a:p>
        </p:txBody>
      </p:sp>
      <p:sp>
        <p:nvSpPr>
          <p:cNvPr id="162" name="Derived features"/>
          <p:cNvSpPr txBox="1"/>
          <p:nvPr/>
        </p:nvSpPr>
        <p:spPr>
          <a:xfrm>
            <a:off x="4514850" y="3352800"/>
            <a:ext cx="31337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Derived features</a:t>
            </a:r>
          </a:p>
        </p:txBody>
      </p:sp>
      <p:sp>
        <p:nvSpPr>
          <p:cNvPr id="163" name="Relevant coverage claim history…"/>
          <p:cNvSpPr txBox="1"/>
          <p:nvPr/>
        </p:nvSpPr>
        <p:spPr>
          <a:xfrm>
            <a:off x="4514850" y="3990975"/>
            <a:ext cx="3133725" cy="1981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Relevant coverage claim history</a:t>
            </a:r>
          </a:p>
          <a:p>
            <a:pPr marL="228600" indent="-114300">
              <a:spcBef>
                <a:spcPts val="1200"/>
              </a:spcBef>
              <a:buSzPct val="100000"/>
              <a:buChar char="•"/>
              <a:defRPr>
                <a:solidFill>
                  <a:srgbClr val="142F4D"/>
                </a:solidFill>
                <a:latin typeface="Nimbus Sans"/>
                <a:ea typeface="Nimbus Sans"/>
                <a:cs typeface="Nimbus Sans"/>
                <a:sym typeface="Nimbus Sans"/>
              </a:defRPr>
            </a:pPr>
            <a:r>
              <a:t>Logs of prior loss and mileage intensity</a:t>
            </a:r>
          </a:p>
          <a:p>
            <a:pPr marL="228600" indent="-114300">
              <a:spcBef>
                <a:spcPts val="1200"/>
              </a:spcBef>
              <a:buSzPct val="100000"/>
              <a:buChar char="•"/>
              <a:defRPr>
                <a:solidFill>
                  <a:srgbClr val="142F4D"/>
                </a:solidFill>
                <a:latin typeface="Nimbus Sans"/>
                <a:ea typeface="Nimbus Sans"/>
                <a:cs typeface="Nimbus Sans"/>
                <a:sym typeface="Nimbus Sans"/>
              </a:defRPr>
            </a:pPr>
            <a:r>
              <a:t>Fleet ratios and AL interactions</a:t>
            </a:r>
          </a:p>
        </p:txBody>
      </p:sp>
      <p:sp>
        <p:nvSpPr>
          <p:cNvPr id="164" name="Fitted preparation"/>
          <p:cNvSpPr txBox="1"/>
          <p:nvPr/>
        </p:nvSpPr>
        <p:spPr>
          <a:xfrm>
            <a:off x="8372475" y="3352800"/>
            <a:ext cx="31337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Fitted preparation</a:t>
            </a:r>
          </a:p>
        </p:txBody>
      </p:sp>
      <p:sp>
        <p:nvSpPr>
          <p:cNvPr id="165" name="Median imputation and indicators…"/>
          <p:cNvSpPr txBox="1"/>
          <p:nvPr/>
        </p:nvSpPr>
        <p:spPr>
          <a:xfrm>
            <a:off x="8372475" y="3990975"/>
            <a:ext cx="3133725" cy="170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Median imputation and indicators</a:t>
            </a:r>
          </a:p>
          <a:p>
            <a:pPr marL="228600" indent="-114300">
              <a:spcBef>
                <a:spcPts val="1200"/>
              </a:spcBef>
              <a:buSzPct val="100000"/>
              <a:buChar char="•"/>
              <a:defRPr>
                <a:solidFill>
                  <a:srgbClr val="142F4D"/>
                </a:solidFill>
                <a:latin typeface="Nimbus Sans"/>
                <a:ea typeface="Nimbus Sans"/>
                <a:cs typeface="Nimbus Sans"/>
                <a:sym typeface="Nimbus Sans"/>
              </a:defRPr>
            </a:pPr>
            <a:r>
              <a:t>One-hot categorical encoding</a:t>
            </a:r>
          </a:p>
          <a:p>
            <a:pPr marL="228600" indent="-114300">
              <a:spcBef>
                <a:spcPts val="1200"/>
              </a:spcBef>
              <a:buSzPct val="100000"/>
              <a:buChar char="•"/>
              <a:defRPr>
                <a:solidFill>
                  <a:srgbClr val="142F4D"/>
                </a:solidFill>
                <a:latin typeface="Nimbus Sans"/>
                <a:ea typeface="Nimbus Sans"/>
                <a:cs typeface="Nimbus Sans"/>
                <a:sym typeface="Nimbus Sans"/>
              </a:defRPr>
            </a:pPr>
            <a:r>
              <a:t>Scaling for the linear model</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Selection, evaluation and final training</a:t>
            </a:r>
          </a:p>
        </p:txBody>
      </p:sp>
      <p:sp>
        <p:nvSpPr>
          <p:cNvPr id="170"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171" name="07"/>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07</a:t>
            </a:r>
          </a:p>
        </p:txBody>
      </p:sp>
      <p:sp>
        <p:nvSpPr>
          <p:cNvPr id="172" name="2020"/>
          <p:cNvSpPr txBox="1"/>
          <p:nvPr/>
        </p:nvSpPr>
        <p:spPr>
          <a:xfrm>
            <a:off x="4095750" y="1819275"/>
            <a:ext cx="228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142F4D"/>
                </a:solidFill>
                <a:latin typeface="Nimbus Sans"/>
                <a:ea typeface="Nimbus Sans"/>
                <a:cs typeface="Nimbus Sans"/>
                <a:sym typeface="Nimbus Sans"/>
              </a:defRPr>
            </a:lvl1pPr>
          </a:lstStyle>
          <a:p>
            <a:pPr/>
            <a:r>
              <a:t>2020</a:t>
            </a:r>
          </a:p>
        </p:txBody>
      </p:sp>
      <p:sp>
        <p:nvSpPr>
          <p:cNvPr id="173" name="2021 H1"/>
          <p:cNvSpPr txBox="1"/>
          <p:nvPr/>
        </p:nvSpPr>
        <p:spPr>
          <a:xfrm>
            <a:off x="6496050" y="1819275"/>
            <a:ext cx="1143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142F4D"/>
                </a:solidFill>
                <a:latin typeface="Nimbus Sans"/>
                <a:ea typeface="Nimbus Sans"/>
                <a:cs typeface="Nimbus Sans"/>
                <a:sym typeface="Nimbus Sans"/>
              </a:defRPr>
            </a:lvl1pPr>
          </a:lstStyle>
          <a:p>
            <a:pPr/>
            <a:r>
              <a:t>2021 H1</a:t>
            </a:r>
          </a:p>
        </p:txBody>
      </p:sp>
      <p:sp>
        <p:nvSpPr>
          <p:cNvPr id="174" name="2021 H2"/>
          <p:cNvSpPr txBox="1"/>
          <p:nvPr/>
        </p:nvSpPr>
        <p:spPr>
          <a:xfrm>
            <a:off x="7753350" y="1819275"/>
            <a:ext cx="1143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142F4D"/>
                </a:solidFill>
                <a:latin typeface="Nimbus Sans"/>
                <a:ea typeface="Nimbus Sans"/>
                <a:cs typeface="Nimbus Sans"/>
                <a:sym typeface="Nimbus Sans"/>
              </a:defRPr>
            </a:lvl1pPr>
          </a:lstStyle>
          <a:p>
            <a:pPr/>
            <a:r>
              <a:t>2021 H2</a:t>
            </a:r>
          </a:p>
        </p:txBody>
      </p:sp>
      <p:sp>
        <p:nvSpPr>
          <p:cNvPr id="175" name="2022"/>
          <p:cNvSpPr txBox="1"/>
          <p:nvPr/>
        </p:nvSpPr>
        <p:spPr>
          <a:xfrm>
            <a:off x="9010650" y="1819275"/>
            <a:ext cx="228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142F4D"/>
                </a:solidFill>
                <a:latin typeface="Nimbus Sans"/>
                <a:ea typeface="Nimbus Sans"/>
                <a:cs typeface="Nimbus Sans"/>
                <a:sym typeface="Nimbus Sans"/>
              </a:defRPr>
            </a:lvl1pPr>
          </a:lstStyle>
          <a:p>
            <a:pPr/>
            <a:r>
              <a:t>2022</a:t>
            </a:r>
          </a:p>
        </p:txBody>
      </p:sp>
      <p:sp>
        <p:nvSpPr>
          <p:cNvPr id="176" name="Selection window 1"/>
          <p:cNvSpPr txBox="1"/>
          <p:nvPr/>
        </p:nvSpPr>
        <p:spPr>
          <a:xfrm>
            <a:off x="685800" y="2733675"/>
            <a:ext cx="314325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142F4D"/>
                </a:solidFill>
                <a:latin typeface="Nimbus Sans"/>
                <a:ea typeface="Nimbus Sans"/>
                <a:cs typeface="Nimbus Sans"/>
                <a:sym typeface="Nimbus Sans"/>
              </a:defRPr>
            </a:lvl1pPr>
          </a:lstStyle>
          <a:p>
            <a:pPr/>
            <a:r>
              <a:t>Selection window 1</a:t>
            </a:r>
          </a:p>
        </p:txBody>
      </p:sp>
      <p:sp>
        <p:nvSpPr>
          <p:cNvPr id="177" name="Selection window 1 period"/>
          <p:cNvSpPr/>
          <p:nvPr/>
        </p:nvSpPr>
        <p:spPr>
          <a:xfrm>
            <a:off x="4095750" y="2590800"/>
            <a:ext cx="2286000" cy="533400"/>
          </a:xfrm>
          <a:prstGeom prst="rect">
            <a:avLst/>
          </a:prstGeom>
          <a:solidFill>
            <a:srgbClr val="005DAA"/>
          </a:solidFill>
          <a:ln w="12700">
            <a:miter lim="400000"/>
          </a:ln>
        </p:spPr>
        <p:txBody>
          <a:bodyPr lIns="0" tIns="0" rIns="0" bIns="0"/>
          <a:lstStyle/>
          <a:p>
            <a:pPr/>
          </a:p>
        </p:txBody>
      </p:sp>
      <p:sp>
        <p:nvSpPr>
          <p:cNvPr id="178" name="5,103"/>
          <p:cNvSpPr txBox="1"/>
          <p:nvPr/>
        </p:nvSpPr>
        <p:spPr>
          <a:xfrm>
            <a:off x="4095750" y="2714625"/>
            <a:ext cx="2286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5,103</a:t>
            </a:r>
          </a:p>
        </p:txBody>
      </p:sp>
      <p:sp>
        <p:nvSpPr>
          <p:cNvPr id="179" name="Selection window 1 period"/>
          <p:cNvSpPr/>
          <p:nvPr/>
        </p:nvSpPr>
        <p:spPr>
          <a:xfrm>
            <a:off x="6496050" y="2590800"/>
            <a:ext cx="1143000" cy="533400"/>
          </a:xfrm>
          <a:prstGeom prst="rect">
            <a:avLst/>
          </a:prstGeom>
          <a:solidFill>
            <a:srgbClr val="008B87"/>
          </a:solidFill>
          <a:ln w="12700">
            <a:miter lim="400000"/>
          </a:ln>
        </p:spPr>
        <p:txBody>
          <a:bodyPr lIns="0" tIns="0" rIns="0" bIns="0"/>
          <a:lstStyle/>
          <a:p>
            <a:pPr/>
          </a:p>
        </p:txBody>
      </p:sp>
      <p:sp>
        <p:nvSpPr>
          <p:cNvPr id="180" name="2,431"/>
          <p:cNvSpPr txBox="1"/>
          <p:nvPr/>
        </p:nvSpPr>
        <p:spPr>
          <a:xfrm>
            <a:off x="6496050" y="2714625"/>
            <a:ext cx="1143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2,431</a:t>
            </a:r>
          </a:p>
        </p:txBody>
      </p:sp>
      <p:sp>
        <p:nvSpPr>
          <p:cNvPr id="181" name="Selection window 2"/>
          <p:cNvSpPr txBox="1"/>
          <p:nvPr/>
        </p:nvSpPr>
        <p:spPr>
          <a:xfrm>
            <a:off x="685800" y="3448050"/>
            <a:ext cx="314325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142F4D"/>
                </a:solidFill>
                <a:latin typeface="Nimbus Sans"/>
                <a:ea typeface="Nimbus Sans"/>
                <a:cs typeface="Nimbus Sans"/>
                <a:sym typeface="Nimbus Sans"/>
              </a:defRPr>
            </a:lvl1pPr>
          </a:lstStyle>
          <a:p>
            <a:pPr/>
            <a:r>
              <a:t>Selection window 2</a:t>
            </a:r>
          </a:p>
        </p:txBody>
      </p:sp>
      <p:sp>
        <p:nvSpPr>
          <p:cNvPr id="182" name="Selection window 2 period"/>
          <p:cNvSpPr/>
          <p:nvPr/>
        </p:nvSpPr>
        <p:spPr>
          <a:xfrm>
            <a:off x="4095750" y="3305175"/>
            <a:ext cx="3543300" cy="533400"/>
          </a:xfrm>
          <a:prstGeom prst="rect">
            <a:avLst/>
          </a:prstGeom>
          <a:solidFill>
            <a:srgbClr val="005DAA"/>
          </a:solidFill>
          <a:ln w="12700">
            <a:miter lim="400000"/>
          </a:ln>
        </p:spPr>
        <p:txBody>
          <a:bodyPr lIns="0" tIns="0" rIns="0" bIns="0"/>
          <a:lstStyle/>
          <a:p>
            <a:pPr/>
          </a:p>
        </p:txBody>
      </p:sp>
      <p:sp>
        <p:nvSpPr>
          <p:cNvPr id="183" name="7,534"/>
          <p:cNvSpPr txBox="1"/>
          <p:nvPr/>
        </p:nvSpPr>
        <p:spPr>
          <a:xfrm>
            <a:off x="4095750" y="3429000"/>
            <a:ext cx="35433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7,534</a:t>
            </a:r>
          </a:p>
        </p:txBody>
      </p:sp>
      <p:sp>
        <p:nvSpPr>
          <p:cNvPr id="184" name="Selection window 2 period"/>
          <p:cNvSpPr/>
          <p:nvPr/>
        </p:nvSpPr>
        <p:spPr>
          <a:xfrm>
            <a:off x="7753350" y="3305175"/>
            <a:ext cx="1143000" cy="533400"/>
          </a:xfrm>
          <a:prstGeom prst="rect">
            <a:avLst/>
          </a:prstGeom>
          <a:solidFill>
            <a:srgbClr val="008B87"/>
          </a:solidFill>
          <a:ln w="12700">
            <a:miter lim="400000"/>
          </a:ln>
        </p:spPr>
        <p:txBody>
          <a:bodyPr lIns="0" tIns="0" rIns="0" bIns="0"/>
          <a:lstStyle/>
          <a:p>
            <a:pPr/>
          </a:p>
        </p:txBody>
      </p:sp>
      <p:sp>
        <p:nvSpPr>
          <p:cNvPr id="185" name="2,489"/>
          <p:cNvSpPr txBox="1"/>
          <p:nvPr/>
        </p:nvSpPr>
        <p:spPr>
          <a:xfrm>
            <a:off x="7753350" y="3429000"/>
            <a:ext cx="1143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2,489</a:t>
            </a:r>
          </a:p>
        </p:txBody>
      </p:sp>
      <p:sp>
        <p:nvSpPr>
          <p:cNvPr id="186" name="2022 evaluation"/>
          <p:cNvSpPr txBox="1"/>
          <p:nvPr/>
        </p:nvSpPr>
        <p:spPr>
          <a:xfrm>
            <a:off x="685800" y="4162425"/>
            <a:ext cx="314325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142F4D"/>
                </a:solidFill>
                <a:latin typeface="Nimbus Sans"/>
                <a:ea typeface="Nimbus Sans"/>
                <a:cs typeface="Nimbus Sans"/>
                <a:sym typeface="Nimbus Sans"/>
              </a:defRPr>
            </a:lvl1pPr>
          </a:lstStyle>
          <a:p>
            <a:pPr/>
            <a:r>
              <a:t>2022 evaluation</a:t>
            </a:r>
          </a:p>
        </p:txBody>
      </p:sp>
      <p:sp>
        <p:nvSpPr>
          <p:cNvPr id="187" name="2022 evaluation period"/>
          <p:cNvSpPr/>
          <p:nvPr/>
        </p:nvSpPr>
        <p:spPr>
          <a:xfrm>
            <a:off x="4095750" y="4019550"/>
            <a:ext cx="4800600" cy="533400"/>
          </a:xfrm>
          <a:prstGeom prst="rect">
            <a:avLst/>
          </a:prstGeom>
          <a:solidFill>
            <a:srgbClr val="005DAA"/>
          </a:solidFill>
          <a:ln w="12700">
            <a:miter lim="400000"/>
          </a:ln>
        </p:spPr>
        <p:txBody>
          <a:bodyPr lIns="0" tIns="0" rIns="0" bIns="0"/>
          <a:lstStyle/>
          <a:p>
            <a:pPr/>
          </a:p>
        </p:txBody>
      </p:sp>
      <p:sp>
        <p:nvSpPr>
          <p:cNvPr id="188" name="10,023"/>
          <p:cNvSpPr txBox="1"/>
          <p:nvPr/>
        </p:nvSpPr>
        <p:spPr>
          <a:xfrm>
            <a:off x="4095750" y="4143375"/>
            <a:ext cx="48006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10,023</a:t>
            </a:r>
          </a:p>
        </p:txBody>
      </p:sp>
      <p:sp>
        <p:nvSpPr>
          <p:cNvPr id="189" name="2022 evaluation period"/>
          <p:cNvSpPr/>
          <p:nvPr/>
        </p:nvSpPr>
        <p:spPr>
          <a:xfrm>
            <a:off x="9010650" y="4019550"/>
            <a:ext cx="2286000" cy="533400"/>
          </a:xfrm>
          <a:prstGeom prst="rect">
            <a:avLst/>
          </a:prstGeom>
          <a:solidFill>
            <a:srgbClr val="956100"/>
          </a:solidFill>
          <a:ln w="12700">
            <a:miter lim="400000"/>
          </a:ln>
        </p:spPr>
        <p:txBody>
          <a:bodyPr lIns="0" tIns="0" rIns="0" bIns="0"/>
          <a:lstStyle/>
          <a:p>
            <a:pPr/>
          </a:p>
        </p:txBody>
      </p:sp>
      <p:sp>
        <p:nvSpPr>
          <p:cNvPr id="190" name="4,967"/>
          <p:cNvSpPr txBox="1"/>
          <p:nvPr/>
        </p:nvSpPr>
        <p:spPr>
          <a:xfrm>
            <a:off x="9010650" y="4143375"/>
            <a:ext cx="22860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4,967</a:t>
            </a:r>
          </a:p>
        </p:txBody>
      </p:sp>
      <p:sp>
        <p:nvSpPr>
          <p:cNvPr id="191" name="Final scoring model"/>
          <p:cNvSpPr txBox="1"/>
          <p:nvPr/>
        </p:nvSpPr>
        <p:spPr>
          <a:xfrm>
            <a:off x="685800" y="4876800"/>
            <a:ext cx="314325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142F4D"/>
                </a:solidFill>
                <a:latin typeface="Nimbus Sans"/>
                <a:ea typeface="Nimbus Sans"/>
                <a:cs typeface="Nimbus Sans"/>
                <a:sym typeface="Nimbus Sans"/>
              </a:defRPr>
            </a:lvl1pPr>
          </a:lstStyle>
          <a:p>
            <a:pPr/>
            <a:r>
              <a:t>Final scoring model</a:t>
            </a:r>
          </a:p>
        </p:txBody>
      </p:sp>
      <p:sp>
        <p:nvSpPr>
          <p:cNvPr id="192" name="Final scoring model period"/>
          <p:cNvSpPr/>
          <p:nvPr/>
        </p:nvSpPr>
        <p:spPr>
          <a:xfrm>
            <a:off x="4095750" y="4733925"/>
            <a:ext cx="7200900" cy="533400"/>
          </a:xfrm>
          <a:prstGeom prst="rect">
            <a:avLst/>
          </a:prstGeom>
          <a:solidFill>
            <a:srgbClr val="005DAA"/>
          </a:solidFill>
          <a:ln w="12700">
            <a:miter lim="400000"/>
          </a:ln>
        </p:spPr>
        <p:txBody>
          <a:bodyPr lIns="0" tIns="0" rIns="0" bIns="0"/>
          <a:lstStyle/>
          <a:p>
            <a:pPr/>
          </a:p>
        </p:txBody>
      </p:sp>
      <p:sp>
        <p:nvSpPr>
          <p:cNvPr id="193" name="14,990"/>
          <p:cNvSpPr txBox="1"/>
          <p:nvPr/>
        </p:nvSpPr>
        <p:spPr>
          <a:xfrm>
            <a:off x="4095750" y="4857750"/>
            <a:ext cx="72009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900">
                <a:solidFill>
                  <a:srgbClr val="FFFFFF"/>
                </a:solidFill>
                <a:latin typeface="Nimbus Sans"/>
                <a:ea typeface="Nimbus Sans"/>
                <a:cs typeface="Nimbus Sans"/>
                <a:sym typeface="Nimbus Sans"/>
              </a:defRPr>
            </a:lvl1pPr>
          </a:lstStyle>
          <a:p>
            <a:pPr/>
            <a:r>
              <a:t>14,990</a:t>
            </a:r>
          </a:p>
        </p:txBody>
      </p:sp>
      <p:sp>
        <p:nvSpPr>
          <p:cNvPr id="194" name="Training rows"/>
          <p:cNvSpPr txBox="1"/>
          <p:nvPr/>
        </p:nvSpPr>
        <p:spPr>
          <a:xfrm>
            <a:off x="4095750" y="5600700"/>
            <a:ext cx="20955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5DAA"/>
                </a:solidFill>
                <a:latin typeface="Nimbus Sans"/>
                <a:ea typeface="Nimbus Sans"/>
                <a:cs typeface="Nimbus Sans"/>
                <a:sym typeface="Nimbus Sans"/>
              </a:defRPr>
            </a:lvl1pPr>
          </a:lstStyle>
          <a:p>
            <a:pPr/>
            <a:r>
              <a:t>Training rows</a:t>
            </a:r>
          </a:p>
        </p:txBody>
      </p:sp>
      <p:sp>
        <p:nvSpPr>
          <p:cNvPr id="195" name="Validation rows"/>
          <p:cNvSpPr txBox="1"/>
          <p:nvPr/>
        </p:nvSpPr>
        <p:spPr>
          <a:xfrm>
            <a:off x="6638925" y="5600700"/>
            <a:ext cx="228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8B87"/>
                </a:solidFill>
                <a:latin typeface="Nimbus Sans"/>
                <a:ea typeface="Nimbus Sans"/>
                <a:cs typeface="Nimbus Sans"/>
                <a:sym typeface="Nimbus Sans"/>
              </a:defRPr>
            </a:lvl1pPr>
          </a:lstStyle>
          <a:p>
            <a:pPr/>
            <a:r>
              <a:t>Validation rows</a:t>
            </a:r>
          </a:p>
        </p:txBody>
      </p:sp>
      <p:sp>
        <p:nvSpPr>
          <p:cNvPr id="196" name="Evaluation rows"/>
          <p:cNvSpPr txBox="1"/>
          <p:nvPr/>
        </p:nvSpPr>
        <p:spPr>
          <a:xfrm>
            <a:off x="9220200" y="5600700"/>
            <a:ext cx="228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956100"/>
                </a:solidFill>
                <a:latin typeface="Nimbus Sans"/>
                <a:ea typeface="Nimbus Sans"/>
                <a:cs typeface="Nimbus Sans"/>
                <a:sym typeface="Nimbus Sans"/>
              </a:defRPr>
            </a:lvl1pPr>
          </a:lstStyle>
          <a:p>
            <a:pPr/>
            <a:r>
              <a:t>Evaluation rows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Models and configurations tested</a:t>
            </a:r>
          </a:p>
        </p:txBody>
      </p:sp>
      <p:sp>
        <p:nvSpPr>
          <p:cNvPr id="201"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02" name="08"/>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08</a:t>
            </a:r>
          </a:p>
        </p:txBody>
      </p:sp>
      <p:sp>
        <p:nvSpPr>
          <p:cNvPr id="203" name="Footnote"/>
          <p:cNvSpPr txBox="1"/>
          <p:nvPr/>
        </p:nvSpPr>
        <p:spPr>
          <a:xfrm>
            <a:off x="685800" y="6191250"/>
            <a:ext cx="108204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2677D"/>
                </a:solidFill>
                <a:latin typeface="Nimbus Sans"/>
                <a:ea typeface="Nimbus Sans"/>
                <a:cs typeface="Nimbus Sans"/>
                <a:sym typeface="Nimbus Sans"/>
              </a:defRPr>
            </a:lvl1pPr>
          </a:lstStyle>
          <a:p>
            <a:pPr/>
            <a:r>
              <a:t>Variants test raw/derived inputs, categorical handling, sigmoid calibration and premium removal.</a:t>
            </a:r>
          </a:p>
        </p:txBody>
      </p:sp>
      <p:sp>
        <p:nvSpPr>
          <p:cNvPr id="204" name="30 configurations"/>
          <p:cNvSpPr txBox="1"/>
          <p:nvPr/>
        </p:nvSpPr>
        <p:spPr>
          <a:xfrm>
            <a:off x="685800" y="1733550"/>
            <a:ext cx="809625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30 configurations</a:t>
            </a:r>
          </a:p>
        </p:txBody>
      </p:sp>
      <p:sp>
        <p:nvSpPr>
          <p:cNvPr id="205" name="Logistic regression"/>
          <p:cNvSpPr txBox="1"/>
          <p:nvPr/>
        </p:nvSpPr>
        <p:spPr>
          <a:xfrm>
            <a:off x="685800" y="2628900"/>
            <a:ext cx="34956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142F4D"/>
                </a:solidFill>
                <a:latin typeface="Nimbus Sans"/>
                <a:ea typeface="Nimbus Sans"/>
                <a:cs typeface="Nimbus Sans"/>
                <a:sym typeface="Nimbus Sans"/>
              </a:defRPr>
            </a:lvl1pPr>
          </a:lstStyle>
          <a:p>
            <a:pPr/>
            <a:r>
              <a:t>Logistic regression</a:t>
            </a:r>
          </a:p>
        </p:txBody>
      </p:sp>
      <p:sp>
        <p:nvSpPr>
          <p:cNvPr id="206" name="Regularized linear occurrence model"/>
          <p:cNvSpPr txBox="1"/>
          <p:nvPr/>
        </p:nvSpPr>
        <p:spPr>
          <a:xfrm>
            <a:off x="685800" y="3067050"/>
            <a:ext cx="3495675"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Regularized linear occurrence model</a:t>
            </a:r>
          </a:p>
        </p:txBody>
      </p:sp>
      <p:sp>
        <p:nvSpPr>
          <p:cNvPr id="207" name="C = 0.05, 0.2, 1.0"/>
          <p:cNvSpPr txBox="1"/>
          <p:nvPr/>
        </p:nvSpPr>
        <p:spPr>
          <a:xfrm>
            <a:off x="5095875" y="2762250"/>
            <a:ext cx="64103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142F4D"/>
                </a:solidFill>
                <a:latin typeface="Nimbus Sans"/>
                <a:ea typeface="Nimbus Sans"/>
                <a:cs typeface="Nimbus Sans"/>
                <a:sym typeface="Nimbus Sans"/>
              </a:defRPr>
            </a:lvl1pPr>
          </a:lstStyle>
          <a:p>
            <a:pPr/>
            <a:r>
              <a:t>C = 0.05, 0.2, 1.0</a:t>
            </a:r>
          </a:p>
        </p:txBody>
      </p:sp>
      <p:sp>
        <p:nvSpPr>
          <p:cNvPr id="208" name="Divider"/>
          <p:cNvSpPr/>
          <p:nvPr/>
        </p:nvSpPr>
        <p:spPr>
          <a:xfrm>
            <a:off x="685800" y="3629025"/>
            <a:ext cx="10820400" cy="14288"/>
          </a:xfrm>
          <a:prstGeom prst="rect">
            <a:avLst/>
          </a:prstGeom>
          <a:solidFill>
            <a:srgbClr val="DFE6ED"/>
          </a:solidFill>
          <a:ln w="12700">
            <a:miter lim="400000"/>
          </a:ln>
        </p:spPr>
        <p:txBody>
          <a:bodyPr lIns="0" tIns="0" rIns="0" bIns="0"/>
          <a:lstStyle/>
          <a:p>
            <a:pPr/>
          </a:p>
        </p:txBody>
      </p:sp>
      <p:sp>
        <p:nvSpPr>
          <p:cNvPr id="209" name="Gradient boosting"/>
          <p:cNvSpPr txBox="1"/>
          <p:nvPr/>
        </p:nvSpPr>
        <p:spPr>
          <a:xfrm>
            <a:off x="685800" y="3733800"/>
            <a:ext cx="34956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142F4D"/>
                </a:solidFill>
                <a:latin typeface="Nimbus Sans"/>
                <a:ea typeface="Nimbus Sans"/>
                <a:cs typeface="Nimbus Sans"/>
                <a:sym typeface="Nimbus Sans"/>
              </a:defRPr>
            </a:lvl1pPr>
          </a:lstStyle>
          <a:p>
            <a:pPr/>
            <a:r>
              <a:t>Gradient boosting</a:t>
            </a:r>
          </a:p>
        </p:txBody>
      </p:sp>
      <p:sp>
        <p:nvSpPr>
          <p:cNvPr id="210" name="Nonlinear effects and feature interactions"/>
          <p:cNvSpPr txBox="1"/>
          <p:nvPr/>
        </p:nvSpPr>
        <p:spPr>
          <a:xfrm>
            <a:off x="685800" y="4171950"/>
            <a:ext cx="3495675"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Nonlinear effects and feature interactions</a:t>
            </a:r>
          </a:p>
        </p:txBody>
      </p:sp>
      <p:sp>
        <p:nvSpPr>
          <p:cNvPr id="211" name="4, 8 or 16 leaves. 80 or 160 stages."/>
          <p:cNvSpPr txBox="1"/>
          <p:nvPr/>
        </p:nvSpPr>
        <p:spPr>
          <a:xfrm>
            <a:off x="5095875" y="3867150"/>
            <a:ext cx="64103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142F4D"/>
                </a:solidFill>
                <a:latin typeface="Nimbus Sans"/>
                <a:ea typeface="Nimbus Sans"/>
                <a:cs typeface="Nimbus Sans"/>
                <a:sym typeface="Nimbus Sans"/>
              </a:defRPr>
            </a:lvl1pPr>
          </a:lstStyle>
          <a:p>
            <a:pPr/>
            <a:r>
              <a:t>4, 8 or 16 leaves. 80 or 160 stages.</a:t>
            </a:r>
          </a:p>
        </p:txBody>
      </p:sp>
      <p:sp>
        <p:nvSpPr>
          <p:cNvPr id="212" name="Divider"/>
          <p:cNvSpPr/>
          <p:nvPr/>
        </p:nvSpPr>
        <p:spPr>
          <a:xfrm>
            <a:off x="685800" y="4733925"/>
            <a:ext cx="10820400" cy="14288"/>
          </a:xfrm>
          <a:prstGeom prst="rect">
            <a:avLst/>
          </a:prstGeom>
          <a:solidFill>
            <a:srgbClr val="DFE6ED"/>
          </a:solidFill>
          <a:ln w="12700">
            <a:miter lim="400000"/>
          </a:ln>
        </p:spPr>
        <p:txBody>
          <a:bodyPr lIns="0" tIns="0" rIns="0" bIns="0"/>
          <a:lstStyle/>
          <a:p>
            <a:pPr/>
          </a:p>
        </p:txBody>
      </p:sp>
      <p:sp>
        <p:nvSpPr>
          <p:cNvPr id="213" name="Poisson challenger"/>
          <p:cNvSpPr txBox="1"/>
          <p:nvPr/>
        </p:nvSpPr>
        <p:spPr>
          <a:xfrm>
            <a:off x="685800" y="4838700"/>
            <a:ext cx="3495675" cy="330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142F4D"/>
                </a:solidFill>
                <a:latin typeface="Nimbus Sans"/>
                <a:ea typeface="Nimbus Sans"/>
                <a:cs typeface="Nimbus Sans"/>
                <a:sym typeface="Nimbus Sans"/>
              </a:defRPr>
            </a:lvl1pPr>
          </a:lstStyle>
          <a:p>
            <a:pPr/>
            <a:r>
              <a:t>Poisson model</a:t>
            </a:r>
          </a:p>
        </p:txBody>
      </p:sp>
      <p:sp>
        <p:nvSpPr>
          <p:cNvPr id="214" name="Fits claim counts, then estimates occurrence"/>
          <p:cNvSpPr txBox="1"/>
          <p:nvPr/>
        </p:nvSpPr>
        <p:spPr>
          <a:xfrm>
            <a:off x="685800" y="5276850"/>
            <a:ext cx="3495675"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Fits claim counts, then estimates occurrence</a:t>
            </a:r>
          </a:p>
        </p:txBody>
      </p:sp>
      <p:sp>
        <p:nvSpPr>
          <p:cNvPr id="215" name="P(N &gt;= 1) = 1 - exp(-lambda)alpha = 0.01, 0."/>
          <p:cNvSpPr txBox="1"/>
          <p:nvPr/>
        </p:nvSpPr>
        <p:spPr>
          <a:xfrm>
            <a:off x="5095875" y="4972050"/>
            <a:ext cx="6410325" cy="635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142F4D"/>
                </a:solidFill>
                <a:latin typeface="Nimbus Sans"/>
                <a:ea typeface="Nimbus Sans"/>
                <a:cs typeface="Nimbus Sans"/>
                <a:sym typeface="Nimbus Sans"/>
              </a:defRPr>
            </a:pPr>
            <a:r>
              <a:t>P(N &gt;= 1) = 1 - exp(-lambda)</a:t>
            </a:r>
          </a:p>
          <a:p>
            <a:pPr>
              <a:defRPr sz="2100">
                <a:solidFill>
                  <a:srgbClr val="142F4D"/>
                </a:solidFill>
                <a:latin typeface="Nimbus Sans"/>
                <a:ea typeface="Nimbus Sans"/>
                <a:cs typeface="Nimbus Sans"/>
                <a:sym typeface="Nimbus Sans"/>
              </a:defRPr>
            </a:pPr>
            <a:r>
              <a:t>alpha = 0.01, 0.1, 1.0</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Validation results and selected model</a:t>
            </a:r>
          </a:p>
        </p:txBody>
      </p:sp>
      <p:sp>
        <p:nvSpPr>
          <p:cNvPr id="220"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21" name="09"/>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09</a:t>
            </a:r>
          </a:p>
        </p:txBody>
      </p:sp>
      <p:sp>
        <p:nvSpPr>
          <p:cNvPr id="222" name="Best configuration per family and coverage ba"/>
          <p:cNvSpPr txBox="1"/>
          <p:nvPr/>
        </p:nvSpPr>
        <p:spPr>
          <a:xfrm>
            <a:off x="685800" y="1809750"/>
            <a:ext cx="1082040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42F4D"/>
                </a:solidFill>
                <a:latin typeface="Nimbus Sans"/>
                <a:ea typeface="Nimbus Sans"/>
                <a:cs typeface="Nimbus Sans"/>
                <a:sym typeface="Nimbus Sans"/>
              </a:defRPr>
            </a:lvl1pPr>
          </a:lstStyle>
          <a:p>
            <a:pPr/>
            <a:r>
              <a:t>Best configuration per family and coverage baseline</a:t>
            </a:r>
          </a:p>
        </p:txBody>
      </p:sp>
      <p:sp>
        <p:nvSpPr>
          <p:cNvPr id="223" name="Log loss, zoomed scale (lower is better)"/>
          <p:cNvSpPr txBox="1"/>
          <p:nvPr/>
        </p:nvSpPr>
        <p:spPr>
          <a:xfrm>
            <a:off x="685800" y="2409825"/>
            <a:ext cx="75438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52677D"/>
                </a:solidFill>
                <a:latin typeface="Nimbus Sans"/>
                <a:ea typeface="Nimbus Sans"/>
                <a:cs typeface="Nimbus Sans"/>
                <a:sym typeface="Nimbus Sans"/>
              </a:defRPr>
            </a:lvl1pPr>
          </a:lstStyle>
          <a:p>
            <a:pPr/>
            <a:r>
              <a:t>Log loss, zoomed scale (lower is better)</a:t>
            </a:r>
          </a:p>
        </p:txBody>
      </p:sp>
      <p:graphicFrame>
        <p:nvGraphicFramePr>
          <p:cNvPr id="224" name="Chart"/>
          <p:cNvGraphicFramePr/>
          <p:nvPr/>
        </p:nvGraphicFramePr>
        <p:xfrm>
          <a:off x="651721" y="2908300"/>
          <a:ext cx="7317530" cy="2740025"/>
        </p:xfrm>
        <a:graphic xmlns:a="http://schemas.openxmlformats.org/drawingml/2006/main">
          <a:graphicData uri="http://schemas.openxmlformats.org/drawingml/2006/chart">
            <c:chart xmlns:c="http://schemas.openxmlformats.org/drawingml/2006/chart" r:id="rId3"/>
          </a:graphicData>
        </a:graphic>
      </p:graphicFrame>
      <p:sp>
        <p:nvSpPr>
          <p:cNvPr id="225" name="Selected"/>
          <p:cNvSpPr txBox="1"/>
          <p:nvPr/>
        </p:nvSpPr>
        <p:spPr>
          <a:xfrm>
            <a:off x="8772525" y="2647950"/>
            <a:ext cx="2733675"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52677D"/>
                </a:solidFill>
                <a:latin typeface="Nimbus Sans"/>
                <a:ea typeface="Nimbus Sans"/>
                <a:cs typeface="Nimbus Sans"/>
                <a:sym typeface="Nimbus Sans"/>
              </a:defRPr>
            </a:lvl1pPr>
          </a:lstStyle>
          <a:p>
            <a:pPr/>
            <a:r>
              <a:t>Selected</a:t>
            </a:r>
          </a:p>
        </p:txBody>
      </p:sp>
      <p:sp>
        <p:nvSpPr>
          <p:cNvPr id="226" name="Logisticregression"/>
          <p:cNvSpPr txBox="1"/>
          <p:nvPr/>
        </p:nvSpPr>
        <p:spPr>
          <a:xfrm>
            <a:off x="8772525" y="3171825"/>
            <a:ext cx="2733675" cy="863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800">
                <a:solidFill>
                  <a:srgbClr val="005DAA"/>
                </a:solidFill>
                <a:latin typeface="Nimbus Sans"/>
                <a:ea typeface="Nimbus Sans"/>
                <a:cs typeface="Nimbus Sans"/>
                <a:sym typeface="Nimbus Sans"/>
              </a:defRPr>
            </a:pPr>
            <a:r>
              <a:t>Logistic</a:t>
            </a:r>
          </a:p>
          <a:p>
            <a:pPr>
              <a:defRPr b="1" sz="2800">
                <a:solidFill>
                  <a:srgbClr val="005DAA"/>
                </a:solidFill>
                <a:latin typeface="Nimbus Sans"/>
                <a:ea typeface="Nimbus Sans"/>
                <a:cs typeface="Nimbus Sans"/>
                <a:sym typeface="Nimbus Sans"/>
              </a:defRPr>
            </a:pPr>
            <a:r>
              <a:t>regression</a:t>
            </a:r>
          </a:p>
        </p:txBody>
      </p:sp>
      <p:sp>
        <p:nvSpPr>
          <p:cNvPr id="227" name="Derived inputsC = 0.05Shared APD/AL pipelin"/>
          <p:cNvSpPr txBox="1"/>
          <p:nvPr/>
        </p:nvSpPr>
        <p:spPr>
          <a:xfrm>
            <a:off x="8772525" y="4371975"/>
            <a:ext cx="2733675"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42F4D"/>
                </a:solidFill>
                <a:latin typeface="Nimbus Sans"/>
                <a:ea typeface="Nimbus Sans"/>
                <a:cs typeface="Nimbus Sans"/>
                <a:sym typeface="Nimbus Sans"/>
              </a:defRPr>
            </a:pPr>
            <a:r>
              <a:t>Derived inputs</a:t>
            </a:r>
          </a:p>
          <a:p>
            <a:pPr>
              <a:defRPr>
                <a:solidFill>
                  <a:srgbClr val="142F4D"/>
                </a:solidFill>
                <a:latin typeface="Nimbus Sans"/>
                <a:ea typeface="Nimbus Sans"/>
                <a:cs typeface="Nimbus Sans"/>
                <a:sym typeface="Nimbus Sans"/>
              </a:defRPr>
            </a:pPr>
            <a:r>
              <a:t>C = 0.05</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2022 evaluation and review priority</a:t>
            </a:r>
          </a:p>
        </p:txBody>
      </p:sp>
      <p:sp>
        <p:nvSpPr>
          <p:cNvPr id="232"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33" name="10"/>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10</a:t>
            </a:r>
          </a:p>
        </p:txBody>
      </p:sp>
      <p:sp>
        <p:nvSpPr>
          <p:cNvPr id="234" name="Footnote"/>
          <p:cNvSpPr txBox="1"/>
          <p:nvPr/>
        </p:nvSpPr>
        <p:spPr>
          <a:xfrm>
            <a:off x="685800" y="6191250"/>
            <a:ext cx="108204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2677D"/>
                </a:solidFill>
                <a:latin typeface="Nimbus Sans"/>
                <a:ea typeface="Nimbus Sans"/>
                <a:cs typeface="Nimbus Sans"/>
                <a:sym typeface="Nimbus Sans"/>
              </a:defRPr>
            </a:lvl1pPr>
          </a:lstStyle>
          <a:p>
            <a:pPr/>
            <a:r>
              <a:t>4,967 evaluation lines, 627 positives. Comparison baseline assigns the historical rate for each coverage.</a:t>
            </a:r>
          </a:p>
        </p:txBody>
      </p:sp>
      <p:sp>
        <p:nvSpPr>
          <p:cNvPr id="235" name="0.3597"/>
          <p:cNvSpPr txBox="1"/>
          <p:nvPr/>
        </p:nvSpPr>
        <p:spPr>
          <a:xfrm>
            <a:off x="685800" y="1752600"/>
            <a:ext cx="2476500" cy="596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900">
                <a:solidFill>
                  <a:srgbClr val="005DAA"/>
                </a:solidFill>
                <a:latin typeface="Nimbus Sans"/>
                <a:ea typeface="Nimbus Sans"/>
                <a:cs typeface="Nimbus Sans"/>
                <a:sym typeface="Nimbus Sans"/>
              </a:defRPr>
            </a:lvl1pPr>
          </a:lstStyle>
          <a:p>
            <a:pPr/>
            <a:r>
              <a:t>0.3597</a:t>
            </a:r>
          </a:p>
        </p:txBody>
      </p:sp>
      <p:sp>
        <p:nvSpPr>
          <p:cNvPr id="236" name="Model log lossCoverage baseline: 0.3743"/>
          <p:cNvSpPr txBox="1"/>
          <p:nvPr/>
        </p:nvSpPr>
        <p:spPr>
          <a:xfrm>
            <a:off x="685800" y="2533650"/>
            <a:ext cx="24765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2677D"/>
                </a:solidFill>
                <a:latin typeface="Nimbus Sans"/>
                <a:ea typeface="Nimbus Sans"/>
                <a:cs typeface="Nimbus Sans"/>
                <a:sym typeface="Nimbus Sans"/>
              </a:defRPr>
            </a:pPr>
            <a:r>
              <a:t>Model log loss</a:t>
            </a:r>
          </a:p>
          <a:p>
            <a:pPr>
              <a:defRPr>
                <a:solidFill>
                  <a:srgbClr val="52677D"/>
                </a:solidFill>
                <a:latin typeface="Nimbus Sans"/>
                <a:ea typeface="Nimbus Sans"/>
                <a:cs typeface="Nimbus Sans"/>
                <a:sym typeface="Nimbus Sans"/>
              </a:defRPr>
            </a:pPr>
            <a:r>
              <a:t>Coverage baseline: 0.3743</a:t>
            </a:r>
          </a:p>
        </p:txBody>
      </p:sp>
      <p:sp>
        <p:nvSpPr>
          <p:cNvPr id="237" name="0.675"/>
          <p:cNvSpPr txBox="1"/>
          <p:nvPr/>
        </p:nvSpPr>
        <p:spPr>
          <a:xfrm>
            <a:off x="3400425" y="1752600"/>
            <a:ext cx="2476500" cy="596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900">
                <a:solidFill>
                  <a:srgbClr val="005DAA"/>
                </a:solidFill>
                <a:latin typeface="Nimbus Sans"/>
                <a:ea typeface="Nimbus Sans"/>
                <a:cs typeface="Nimbus Sans"/>
                <a:sym typeface="Nimbus Sans"/>
              </a:defRPr>
            </a:lvl1pPr>
          </a:lstStyle>
          <a:p>
            <a:pPr/>
            <a:r>
              <a:t>0.675</a:t>
            </a:r>
          </a:p>
        </p:txBody>
      </p:sp>
      <p:sp>
        <p:nvSpPr>
          <p:cNvPr id="238" name="Model ROC AUCCoverage baseline: 0.574"/>
          <p:cNvSpPr txBox="1"/>
          <p:nvPr/>
        </p:nvSpPr>
        <p:spPr>
          <a:xfrm>
            <a:off x="3400425" y="2533650"/>
            <a:ext cx="2476500" cy="8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2677D"/>
                </a:solidFill>
                <a:latin typeface="Nimbus Sans"/>
                <a:ea typeface="Nimbus Sans"/>
                <a:cs typeface="Nimbus Sans"/>
                <a:sym typeface="Nimbus Sans"/>
              </a:defRPr>
            </a:pPr>
            <a:r>
              <a:t>Model ROC AUC</a:t>
            </a:r>
          </a:p>
          <a:p>
            <a:pPr>
              <a:defRPr>
                <a:solidFill>
                  <a:srgbClr val="52677D"/>
                </a:solidFill>
                <a:latin typeface="Nimbus Sans"/>
                <a:ea typeface="Nimbus Sans"/>
                <a:cs typeface="Nimbus Sans"/>
                <a:sym typeface="Nimbus Sans"/>
              </a:defRPr>
            </a:pPr>
            <a:r>
              <a:t>Coverage baseline: 0.574</a:t>
            </a:r>
          </a:p>
        </p:txBody>
      </p:sp>
      <p:sp>
        <p:nvSpPr>
          <p:cNvPr id="239" name="3.9% lower log loss"/>
          <p:cNvSpPr txBox="1"/>
          <p:nvPr/>
        </p:nvSpPr>
        <p:spPr>
          <a:xfrm>
            <a:off x="685800" y="3448050"/>
            <a:ext cx="51530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3.9% lower log loss</a:t>
            </a:r>
          </a:p>
        </p:txBody>
      </p:sp>
      <p:sp>
        <p:nvSpPr>
          <p:cNvPr id="240" name="Within-coverage ROC AUC"/>
          <p:cNvSpPr txBox="1"/>
          <p:nvPr/>
        </p:nvSpPr>
        <p:spPr>
          <a:xfrm>
            <a:off x="685800" y="4152900"/>
            <a:ext cx="515302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52677D"/>
                </a:solidFill>
                <a:latin typeface="Nimbus Sans"/>
                <a:ea typeface="Nimbus Sans"/>
                <a:cs typeface="Nimbus Sans"/>
                <a:sym typeface="Nimbus Sans"/>
              </a:defRPr>
            </a:lvl1pPr>
          </a:lstStyle>
          <a:p>
            <a:pPr/>
            <a:r>
              <a:t>Within-coverage ROC AUC</a:t>
            </a:r>
          </a:p>
        </p:txBody>
      </p:sp>
      <p:sp>
        <p:nvSpPr>
          <p:cNvPr id="241" name="APD  0.660       AL  0.646"/>
          <p:cNvSpPr txBox="1"/>
          <p:nvPr/>
        </p:nvSpPr>
        <p:spPr>
          <a:xfrm>
            <a:off x="685800" y="4600575"/>
            <a:ext cx="51530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APD  0.660       AL  0.646</a:t>
            </a:r>
          </a:p>
        </p:txBody>
      </p:sp>
      <p:sp>
        <p:nvSpPr>
          <p:cNvPr id="242" name="Calibration by risk group"/>
          <p:cNvSpPr txBox="1"/>
          <p:nvPr/>
        </p:nvSpPr>
        <p:spPr>
          <a:xfrm>
            <a:off x="6457950" y="1743075"/>
            <a:ext cx="504825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142F4D"/>
                </a:solidFill>
                <a:latin typeface="Nimbus Sans"/>
                <a:ea typeface="Nimbus Sans"/>
                <a:cs typeface="Nimbus Sans"/>
                <a:sym typeface="Nimbus Sans"/>
              </a:defRPr>
            </a:lvl1pPr>
          </a:lstStyle>
          <a:p>
            <a:pPr/>
            <a:r>
              <a:t>Calibration by risk group</a:t>
            </a:r>
          </a:p>
        </p:txBody>
      </p:sp>
      <p:graphicFrame>
        <p:nvGraphicFramePr>
          <p:cNvPr id="243" name="Chart"/>
          <p:cNvGraphicFramePr/>
          <p:nvPr/>
        </p:nvGraphicFramePr>
        <p:xfrm>
          <a:off x="6424179" y="2216150"/>
          <a:ext cx="4968838" cy="2890309"/>
        </p:xfrm>
        <a:graphic xmlns:a="http://schemas.openxmlformats.org/drawingml/2006/main">
          <a:graphicData uri="http://schemas.openxmlformats.org/drawingml/2006/chart">
            <c:chart xmlns:c="http://schemas.openxmlformats.org/drawingml/2006/chart" r:id="rId3"/>
          </a:graphicData>
        </a:graphic>
      </p:graphicFrame>
      <p:sp>
        <p:nvSpPr>
          <p:cNvPr id="244" name="Top 10% of scores: 29.2% claim occurrence, 2."/>
          <p:cNvSpPr txBox="1"/>
          <p:nvPr/>
        </p:nvSpPr>
        <p:spPr>
          <a:xfrm>
            <a:off x="685800" y="5438775"/>
            <a:ext cx="108204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005DAA"/>
                </a:solidFill>
                <a:latin typeface="Nimbus Sans"/>
                <a:ea typeface="Nimbus Sans"/>
                <a:cs typeface="Nimbus Sans"/>
                <a:sym typeface="Nimbus Sans"/>
              </a:defRPr>
            </a:pPr>
            <a:r>
              <a:t>Top 10% of scores: 29.2% claim occurrence, 2.31x lift.</a:t>
            </a:r>
          </a:p>
          <a:p>
            <a:pPr>
              <a:defRPr b="1" sz="2000">
                <a:solidFill>
                  <a:srgbClr val="005DAA"/>
                </a:solidFill>
                <a:latin typeface="Nimbus Sans"/>
                <a:ea typeface="Nimbus Sans"/>
                <a:cs typeface="Nimbus Sans"/>
                <a:sym typeface="Nimbus Sans"/>
              </a:defRPr>
            </a:pPr>
            <a:r>
              <a:t>Those lines contain 23.1% of evaluation positives.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Final scoring outputs</a:t>
            </a:r>
          </a:p>
        </p:txBody>
      </p:sp>
      <p:sp>
        <p:nvSpPr>
          <p:cNvPr id="249"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50" name="11"/>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11</a:t>
            </a:r>
          </a:p>
        </p:txBody>
      </p:sp>
      <p:sp>
        <p:nvSpPr>
          <p:cNvPr id="251" name="Footnote"/>
          <p:cNvSpPr txBox="1"/>
          <p:nvPr/>
        </p:nvSpPr>
        <p:spPr>
          <a:xfrm>
            <a:off x="685800" y="6191250"/>
            <a:ext cx="108204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2677D"/>
                </a:solidFill>
                <a:latin typeface="Nimbus Sans"/>
                <a:ea typeface="Nimbus Sans"/>
                <a:cs typeface="Nimbus Sans"/>
                <a:sym typeface="Nimbus Sans"/>
              </a:defRPr>
            </a:lvl1pPr>
          </a:lstStyle>
          <a:p>
            <a:pPr/>
            <a:r>
              <a:t>Scoring rows have no labels, so their predictive performance is unknown.</a:t>
            </a:r>
          </a:p>
        </p:txBody>
      </p:sp>
      <p:sp>
        <p:nvSpPr>
          <p:cNvPr id="252" name="3,000 policy lines scored"/>
          <p:cNvSpPr txBox="1"/>
          <p:nvPr/>
        </p:nvSpPr>
        <p:spPr>
          <a:xfrm>
            <a:off x="685800" y="1752600"/>
            <a:ext cx="108204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700">
                <a:solidFill>
                  <a:srgbClr val="005DAA"/>
                </a:solidFill>
                <a:latin typeface="Nimbus Sans"/>
                <a:ea typeface="Nimbus Sans"/>
                <a:cs typeface="Nimbus Sans"/>
                <a:sym typeface="Nimbus Sans"/>
              </a:defRPr>
            </a:lvl1pPr>
          </a:lstStyle>
          <a:p>
            <a:pPr/>
            <a:r>
              <a:t>3,000 policy lines scored</a:t>
            </a:r>
          </a:p>
        </p:txBody>
      </p:sp>
      <p:sp>
        <p:nvSpPr>
          <p:cNvPr id="253" name="Final training uses all 14,990 retained histo"/>
          <p:cNvSpPr txBox="1"/>
          <p:nvPr/>
        </p:nvSpPr>
        <p:spPr>
          <a:xfrm>
            <a:off x="685800" y="2657475"/>
            <a:ext cx="6715125"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42F4D"/>
                </a:solidFill>
                <a:latin typeface="Nimbus Sans"/>
                <a:ea typeface="Nimbus Sans"/>
                <a:cs typeface="Nimbus Sans"/>
                <a:sym typeface="Nimbus Sans"/>
              </a:defRPr>
            </a:lvl1pPr>
          </a:lstStyle>
          <a:p>
            <a:pPr/>
            <a:r>
              <a:t>Final training uses all 14,990 retained historical lines.</a:t>
            </a:r>
          </a:p>
        </p:txBody>
      </p:sp>
      <p:sp>
        <p:nvSpPr>
          <p:cNvPr id="254" name="predictions.csv contains policy_id and risk_score.…"/>
          <p:cNvSpPr txBox="1"/>
          <p:nvPr/>
        </p:nvSpPr>
        <p:spPr>
          <a:xfrm>
            <a:off x="685800" y="3733800"/>
            <a:ext cx="6191250" cy="157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a:solidFill>
                  <a:srgbClr val="142F4D"/>
                </a:solidFill>
                <a:latin typeface="Nimbus Sans"/>
                <a:ea typeface="Nimbus Sans"/>
                <a:cs typeface="Nimbus Sans"/>
                <a:sym typeface="Nimbus Sans"/>
              </a:defRPr>
            </a:pPr>
            <a:r>
              <a:t>predictions.csv contains policy_id and risk_score.</a:t>
            </a:r>
          </a:p>
          <a:p>
            <a:pPr marL="228600" indent="-114300">
              <a:spcBef>
                <a:spcPts val="1200"/>
              </a:spcBef>
              <a:buSzPct val="100000"/>
              <a:buChar char="•"/>
              <a:defRPr>
                <a:solidFill>
                  <a:srgbClr val="142F4D"/>
                </a:solidFill>
                <a:latin typeface="Nimbus Sans"/>
                <a:ea typeface="Nimbus Sans"/>
                <a:cs typeface="Nimbus Sans"/>
                <a:sym typeface="Nimbus Sans"/>
              </a:defRPr>
            </a:pPr>
            <a:r>
              <a:t>Input row order and unique identity are preserved.</a:t>
            </a:r>
          </a:p>
          <a:p>
            <a:pPr marL="228600" indent="-114300">
              <a:spcBef>
                <a:spcPts val="1200"/>
              </a:spcBef>
              <a:buSzPct val="100000"/>
              <a:buChar char="•"/>
              <a:defRPr>
                <a:solidFill>
                  <a:srgbClr val="142F4D"/>
                </a:solidFill>
                <a:latin typeface="Nimbus Sans"/>
                <a:ea typeface="Nimbus Sans"/>
                <a:cs typeface="Nimbus Sans"/>
                <a:sym typeface="Nimbus Sans"/>
              </a:defRPr>
            </a:pPr>
            <a:r>
              <a:t>Every probability is finite and lies in [0, 1].</a:t>
            </a:r>
          </a:p>
          <a:p>
            <a:pPr marL="228600" indent="-114300">
              <a:spcBef>
                <a:spcPts val="1200"/>
              </a:spcBef>
              <a:buSzPct val="100000"/>
              <a:buChar char="•"/>
              <a:defRPr>
                <a:solidFill>
                  <a:srgbClr val="142F4D"/>
                </a:solidFill>
                <a:latin typeface="Nimbus Sans"/>
                <a:ea typeface="Nimbus Sans"/>
                <a:cs typeface="Nimbus Sans"/>
                <a:sym typeface="Nimbus Sans"/>
              </a:defRPr>
            </a:pPr>
            <a:r>
              <a:t>The saved pipeline includes fitted preprocessing.</a:t>
            </a:r>
          </a:p>
        </p:txBody>
      </p:sp>
      <p:sp>
        <p:nvSpPr>
          <p:cNvPr id="255" name="Mean scoring probability"/>
          <p:cNvSpPr txBox="1"/>
          <p:nvPr/>
        </p:nvSpPr>
        <p:spPr>
          <a:xfrm>
            <a:off x="7867650" y="2705100"/>
            <a:ext cx="363855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142F4D"/>
                </a:solidFill>
                <a:latin typeface="Nimbus Sans"/>
                <a:ea typeface="Nimbus Sans"/>
                <a:cs typeface="Nimbus Sans"/>
                <a:sym typeface="Nimbus Sans"/>
              </a:defRPr>
            </a:lvl1pPr>
          </a:lstStyle>
          <a:p>
            <a:pPr/>
            <a:r>
              <a:t>Mean scoring probability</a:t>
            </a:r>
          </a:p>
        </p:txBody>
      </p:sp>
      <p:graphicFrame>
        <p:nvGraphicFramePr>
          <p:cNvPr id="256" name="Chart"/>
          <p:cNvGraphicFramePr/>
          <p:nvPr/>
        </p:nvGraphicFramePr>
        <p:xfrm>
          <a:off x="7580514" y="3289300"/>
          <a:ext cx="3760586" cy="238760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Modeling methodology improvements</a:t>
            </a:r>
          </a:p>
        </p:txBody>
      </p:sp>
      <p:sp>
        <p:nvSpPr>
          <p:cNvPr id="261"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62" name="12"/>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12</a:t>
            </a:r>
          </a:p>
        </p:txBody>
      </p:sp>
      <p:sp>
        <p:nvSpPr>
          <p:cNvPr id="263" name="01"/>
          <p:cNvSpPr txBox="1"/>
          <p:nvPr/>
        </p:nvSpPr>
        <p:spPr>
          <a:xfrm>
            <a:off x="685800" y="1838325"/>
            <a:ext cx="5715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01</a:t>
            </a:r>
          </a:p>
        </p:txBody>
      </p:sp>
      <p:sp>
        <p:nvSpPr>
          <p:cNvPr id="264" name="Feature eligibility"/>
          <p:cNvSpPr txBox="1"/>
          <p:nvPr/>
        </p:nvSpPr>
        <p:spPr>
          <a:xfrm>
            <a:off x="1524000" y="1838325"/>
            <a:ext cx="338137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Feature eligibility</a:t>
            </a:r>
          </a:p>
        </p:txBody>
      </p:sp>
      <p:sp>
        <p:nvSpPr>
          <p:cNvPr id="265" name="Remove current-period claim signals and use a"/>
          <p:cNvSpPr txBox="1"/>
          <p:nvPr/>
        </p:nvSpPr>
        <p:spPr>
          <a:xfrm>
            <a:off x="5353050" y="1838325"/>
            <a:ext cx="615315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42F4D"/>
                </a:solidFill>
                <a:latin typeface="Nimbus Sans"/>
                <a:ea typeface="Nimbus Sans"/>
                <a:cs typeface="Nimbus Sans"/>
                <a:sym typeface="Nimbus Sans"/>
              </a:defRPr>
            </a:lvl1pPr>
          </a:lstStyle>
          <a:p>
            <a:pPr/>
            <a:r>
              <a:t>Remove current-period claim signals and use a fixed underwriting allowlist.</a:t>
            </a:r>
          </a:p>
        </p:txBody>
      </p:sp>
      <p:sp>
        <p:nvSpPr>
          <p:cNvPr id="266" name="Divider"/>
          <p:cNvSpPr/>
          <p:nvPr/>
        </p:nvSpPr>
        <p:spPr>
          <a:xfrm>
            <a:off x="1524000" y="2705100"/>
            <a:ext cx="9982200" cy="14288"/>
          </a:xfrm>
          <a:prstGeom prst="rect">
            <a:avLst/>
          </a:prstGeom>
          <a:solidFill>
            <a:srgbClr val="DFE6ED"/>
          </a:solidFill>
          <a:ln w="12700">
            <a:miter lim="400000"/>
          </a:ln>
        </p:spPr>
        <p:txBody>
          <a:bodyPr lIns="0" tIns="0" rIns="0" bIns="0"/>
          <a:lstStyle/>
          <a:p>
            <a:pPr/>
          </a:p>
        </p:txBody>
      </p:sp>
      <p:sp>
        <p:nvSpPr>
          <p:cNvPr id="267" name="02"/>
          <p:cNvSpPr txBox="1"/>
          <p:nvPr/>
        </p:nvSpPr>
        <p:spPr>
          <a:xfrm>
            <a:off x="685800" y="2857500"/>
            <a:ext cx="5715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02</a:t>
            </a:r>
          </a:p>
        </p:txBody>
      </p:sp>
      <p:sp>
        <p:nvSpPr>
          <p:cNvPr id="268" name="Fitted preprocessing"/>
          <p:cNvSpPr txBox="1"/>
          <p:nvPr/>
        </p:nvSpPr>
        <p:spPr>
          <a:xfrm>
            <a:off x="1524000" y="2857500"/>
            <a:ext cx="338137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Fitted preprocessing</a:t>
            </a:r>
          </a:p>
        </p:txBody>
      </p:sp>
      <p:sp>
        <p:nvSpPr>
          <p:cNvPr id="269" name="Learn medians and category encoding within ea"/>
          <p:cNvSpPr txBox="1"/>
          <p:nvPr/>
        </p:nvSpPr>
        <p:spPr>
          <a:xfrm>
            <a:off x="5353050" y="2857500"/>
            <a:ext cx="615315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42F4D"/>
                </a:solidFill>
                <a:latin typeface="Nimbus Sans"/>
                <a:ea typeface="Nimbus Sans"/>
                <a:cs typeface="Nimbus Sans"/>
                <a:sym typeface="Nimbus Sans"/>
              </a:defRPr>
            </a:lvl1pPr>
          </a:lstStyle>
          <a:p>
            <a:pPr/>
            <a:r>
              <a:t>Learn medians and category encoding within each training partition.</a:t>
            </a:r>
          </a:p>
        </p:txBody>
      </p:sp>
      <p:sp>
        <p:nvSpPr>
          <p:cNvPr id="270" name="Divider"/>
          <p:cNvSpPr/>
          <p:nvPr/>
        </p:nvSpPr>
        <p:spPr>
          <a:xfrm>
            <a:off x="1524000" y="3724275"/>
            <a:ext cx="9982200" cy="14288"/>
          </a:xfrm>
          <a:prstGeom prst="rect">
            <a:avLst/>
          </a:prstGeom>
          <a:solidFill>
            <a:srgbClr val="DFE6ED"/>
          </a:solidFill>
          <a:ln w="12700">
            <a:miter lim="400000"/>
          </a:ln>
        </p:spPr>
        <p:txBody>
          <a:bodyPr lIns="0" tIns="0" rIns="0" bIns="0"/>
          <a:lstStyle/>
          <a:p>
            <a:pPr/>
          </a:p>
        </p:txBody>
      </p:sp>
      <p:sp>
        <p:nvSpPr>
          <p:cNvPr id="271" name="03"/>
          <p:cNvSpPr txBox="1"/>
          <p:nvPr/>
        </p:nvSpPr>
        <p:spPr>
          <a:xfrm>
            <a:off x="685800" y="3876675"/>
            <a:ext cx="5715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03</a:t>
            </a:r>
          </a:p>
        </p:txBody>
      </p:sp>
      <p:sp>
        <p:nvSpPr>
          <p:cNvPr id="272" name="Independent evaluation"/>
          <p:cNvSpPr txBox="1"/>
          <p:nvPr/>
        </p:nvSpPr>
        <p:spPr>
          <a:xfrm>
            <a:off x="1524000" y="3876675"/>
            <a:ext cx="338137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Independent evaluation</a:t>
            </a:r>
          </a:p>
        </p:txBody>
      </p:sp>
      <p:sp>
        <p:nvSpPr>
          <p:cNvPr id="273" name="Use later capture cohorts and benchmarks fitt"/>
          <p:cNvSpPr txBox="1"/>
          <p:nvPr/>
        </p:nvSpPr>
        <p:spPr>
          <a:xfrm>
            <a:off x="5353050" y="3876675"/>
            <a:ext cx="615315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42F4D"/>
                </a:solidFill>
                <a:latin typeface="Nimbus Sans"/>
                <a:ea typeface="Nimbus Sans"/>
                <a:cs typeface="Nimbus Sans"/>
                <a:sym typeface="Nimbus Sans"/>
              </a:defRPr>
            </a:lvl1pPr>
          </a:lstStyle>
          <a:p>
            <a:pPr/>
            <a:r>
              <a:t>Use later capture cohorts and benchmarks fitted on training history.</a:t>
            </a:r>
          </a:p>
        </p:txBody>
      </p:sp>
      <p:sp>
        <p:nvSpPr>
          <p:cNvPr id="274" name="Divider"/>
          <p:cNvSpPr/>
          <p:nvPr/>
        </p:nvSpPr>
        <p:spPr>
          <a:xfrm>
            <a:off x="1524000" y="4743450"/>
            <a:ext cx="9982200" cy="14288"/>
          </a:xfrm>
          <a:prstGeom prst="rect">
            <a:avLst/>
          </a:prstGeom>
          <a:solidFill>
            <a:srgbClr val="DFE6ED"/>
          </a:solidFill>
          <a:ln w="12700">
            <a:miter lim="400000"/>
          </a:ln>
        </p:spPr>
        <p:txBody>
          <a:bodyPr lIns="0" tIns="0" rIns="0" bIns="0"/>
          <a:lstStyle/>
          <a:p>
            <a:pPr/>
          </a:p>
        </p:txBody>
      </p:sp>
      <p:sp>
        <p:nvSpPr>
          <p:cNvPr id="275" name="04"/>
          <p:cNvSpPr txBox="1"/>
          <p:nvPr/>
        </p:nvSpPr>
        <p:spPr>
          <a:xfrm>
            <a:off x="685800" y="4895850"/>
            <a:ext cx="5715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04</a:t>
            </a:r>
          </a:p>
        </p:txBody>
      </p:sp>
      <p:sp>
        <p:nvSpPr>
          <p:cNvPr id="276" name="Selection by log loss"/>
          <p:cNvSpPr txBox="1"/>
          <p:nvPr/>
        </p:nvSpPr>
        <p:spPr>
          <a:xfrm>
            <a:off x="1524000" y="4895850"/>
            <a:ext cx="338137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Selection by log loss</a:t>
            </a:r>
          </a:p>
        </p:txBody>
      </p:sp>
      <p:sp>
        <p:nvSpPr>
          <p:cNvPr id="277" name="Compare 30 configurations with log loss, then"/>
          <p:cNvSpPr txBox="1"/>
          <p:nvPr/>
        </p:nvSpPr>
        <p:spPr>
          <a:xfrm>
            <a:off x="5353050" y="4895850"/>
            <a:ext cx="6153150" cy="584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42F4D"/>
                </a:solidFill>
                <a:latin typeface="Nimbus Sans"/>
                <a:ea typeface="Nimbus Sans"/>
                <a:cs typeface="Nimbus Sans"/>
                <a:sym typeface="Nimbus Sans"/>
              </a:defRPr>
            </a:lvl1pPr>
          </a:lstStyle>
          <a:p>
            <a:pPr/>
            <a:r>
              <a:t>Compare 30 configurations with log loss, then inspect ranking and calibration.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Production readiness implemented</a:t>
            </a:r>
          </a:p>
        </p:txBody>
      </p:sp>
      <p:sp>
        <p:nvSpPr>
          <p:cNvPr id="282"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83" name="13"/>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13</a:t>
            </a:r>
          </a:p>
        </p:txBody>
      </p:sp>
      <p:sp>
        <p:nvSpPr>
          <p:cNvPr id="284" name="One reusablescoring pipeline"/>
          <p:cNvSpPr txBox="1"/>
          <p:nvPr/>
        </p:nvSpPr>
        <p:spPr>
          <a:xfrm>
            <a:off x="685800" y="1924050"/>
            <a:ext cx="4171950" cy="1066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500">
                <a:solidFill>
                  <a:srgbClr val="005DAA"/>
                </a:solidFill>
                <a:latin typeface="Nimbus Sans"/>
                <a:ea typeface="Nimbus Sans"/>
                <a:cs typeface="Nimbus Sans"/>
                <a:sym typeface="Nimbus Sans"/>
              </a:defRPr>
            </a:pPr>
            <a:r>
              <a:t>One reusable</a:t>
            </a:r>
          </a:p>
          <a:p>
            <a:pPr>
              <a:defRPr b="1" sz="3500">
                <a:solidFill>
                  <a:srgbClr val="005DAA"/>
                </a:solidFill>
                <a:latin typeface="Nimbus Sans"/>
                <a:ea typeface="Nimbus Sans"/>
                <a:cs typeface="Nimbus Sans"/>
                <a:sym typeface="Nimbus Sans"/>
              </a:defRPr>
            </a:pPr>
            <a:r>
              <a:t>scoring pipeline</a:t>
            </a:r>
          </a:p>
        </p:txBody>
      </p:sp>
      <p:sp>
        <p:nvSpPr>
          <p:cNvPr id="285" name="The artifact contains the modeland fitted pr"/>
          <p:cNvSpPr txBox="1"/>
          <p:nvPr/>
        </p:nvSpPr>
        <p:spPr>
          <a:xfrm>
            <a:off x="685800" y="3848100"/>
            <a:ext cx="4171950" cy="635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142F4D"/>
                </a:solidFill>
                <a:latin typeface="Nimbus Sans"/>
                <a:ea typeface="Nimbus Sans"/>
                <a:cs typeface="Nimbus Sans"/>
                <a:sym typeface="Nimbus Sans"/>
              </a:defRPr>
            </a:pPr>
            <a:r>
              <a:t>The artifact contains the model</a:t>
            </a:r>
          </a:p>
          <a:p>
            <a:pPr>
              <a:defRPr sz="2100">
                <a:solidFill>
                  <a:srgbClr val="142F4D"/>
                </a:solidFill>
                <a:latin typeface="Nimbus Sans"/>
                <a:ea typeface="Nimbus Sans"/>
                <a:cs typeface="Nimbus Sans"/>
                <a:sym typeface="Nimbus Sans"/>
              </a:defRPr>
            </a:pPr>
            <a:r>
              <a:t>and fitted preprocessing.</a:t>
            </a:r>
          </a:p>
        </p:txBody>
      </p:sp>
      <p:sp>
        <p:nvSpPr>
          <p:cNvPr id="286" name="Shared rules validate training and scoring inputs.…"/>
          <p:cNvSpPr txBox="1"/>
          <p:nvPr/>
        </p:nvSpPr>
        <p:spPr>
          <a:xfrm>
            <a:off x="5924550" y="1933575"/>
            <a:ext cx="5581650" cy="289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114300">
              <a:spcBef>
                <a:spcPts val="1200"/>
              </a:spcBef>
              <a:buSzPct val="100000"/>
              <a:buChar char="•"/>
              <a:defRPr sz="2000">
                <a:solidFill>
                  <a:srgbClr val="142F4D"/>
                </a:solidFill>
                <a:latin typeface="Nimbus Sans"/>
                <a:ea typeface="Nimbus Sans"/>
                <a:cs typeface="Nimbus Sans"/>
                <a:sym typeface="Nimbus Sans"/>
              </a:defRPr>
            </a:pPr>
            <a:r>
              <a:t>Shared rules validate training and scoring inputs.</a:t>
            </a:r>
          </a:p>
          <a:p>
            <a:pPr marL="228600" indent="-114300">
              <a:spcBef>
                <a:spcPts val="1200"/>
              </a:spcBef>
              <a:buSzPct val="100000"/>
              <a:buChar char="•"/>
              <a:defRPr sz="2000">
                <a:solidFill>
                  <a:srgbClr val="142F4D"/>
                </a:solidFill>
                <a:latin typeface="Nimbus Sans"/>
                <a:ea typeface="Nimbus Sans"/>
                <a:cs typeface="Nimbus Sans"/>
                <a:sym typeface="Nimbus Sans"/>
              </a:defRPr>
            </a:pPr>
            <a:r>
              <a:t>Saved full pipeline with environment and feature metadata.</a:t>
            </a:r>
          </a:p>
          <a:p>
            <a:pPr marL="228600" indent="-114300">
              <a:spcBef>
                <a:spcPts val="1200"/>
              </a:spcBef>
              <a:buSzPct val="100000"/>
              <a:buChar char="•"/>
              <a:defRPr sz="2000">
                <a:solidFill>
                  <a:srgbClr val="142F4D"/>
                </a:solidFill>
                <a:latin typeface="Nimbus Sans"/>
                <a:ea typeface="Nimbus Sans"/>
                <a:cs typeface="Nimbus Sans"/>
                <a:sym typeface="Nimbus Sans"/>
              </a:defRPr>
            </a:pPr>
            <a:r>
              <a:t>Reloaded predictions match, with explicit output identity checks.</a:t>
            </a:r>
          </a:p>
          <a:p>
            <a:pPr marL="228600" indent="-114300">
              <a:spcBef>
                <a:spcPts val="1200"/>
              </a:spcBef>
              <a:buSzPct val="100000"/>
              <a:buChar char="•"/>
              <a:defRPr sz="2000">
                <a:solidFill>
                  <a:srgbClr val="142F4D"/>
                </a:solidFill>
                <a:latin typeface="Nimbus Sans"/>
                <a:ea typeface="Nimbus Sans"/>
                <a:cs typeface="Nimbus Sans"/>
                <a:sym typeface="Nimbus Sans"/>
              </a:defRPr>
            </a:pPr>
            <a:r>
              <a:t>Saved evaluation evidence and descriptive input quality reports.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Deployment roadmap</a:t>
            </a:r>
          </a:p>
        </p:txBody>
      </p:sp>
      <p:sp>
        <p:nvSpPr>
          <p:cNvPr id="291"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292" name="14"/>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14</a:t>
            </a:r>
          </a:p>
        </p:txBody>
      </p:sp>
      <p:sp>
        <p:nvSpPr>
          <p:cNvPr id="293" name="2"/>
          <p:cNvSpPr txBox="1"/>
          <p:nvPr/>
        </p:nvSpPr>
        <p:spPr>
          <a:xfrm>
            <a:off x="685800" y="2124075"/>
            <a:ext cx="4953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1</a:t>
            </a:r>
          </a:p>
        </p:txBody>
      </p:sp>
      <p:sp>
        <p:nvSpPr>
          <p:cNvPr id="294" name="Reproducible release"/>
          <p:cNvSpPr txBox="1"/>
          <p:nvPr/>
        </p:nvSpPr>
        <p:spPr>
          <a:xfrm>
            <a:off x="1352550" y="2124075"/>
            <a:ext cx="33718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Reproducible release</a:t>
            </a:r>
          </a:p>
        </p:txBody>
      </p:sp>
      <p:sp>
        <p:nvSpPr>
          <p:cNvPr id="295" name="Align model and environment versions. Add CI "/>
          <p:cNvSpPr txBox="1"/>
          <p:nvPr/>
        </p:nvSpPr>
        <p:spPr>
          <a:xfrm>
            <a:off x="5219700" y="2124075"/>
            <a:ext cx="62865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42F4D"/>
                </a:solidFill>
                <a:latin typeface="Nimbus Sans"/>
                <a:ea typeface="Nimbus Sans"/>
                <a:cs typeface="Nimbus Sans"/>
                <a:sym typeface="Nimbus Sans"/>
              </a:defRPr>
            </a:lvl1pPr>
          </a:lstStyle>
          <a:p>
            <a:pPr/>
            <a:r>
              <a:t>Align model and environment versions. Add CI checks and immutable run records.</a:t>
            </a:r>
          </a:p>
        </p:txBody>
      </p:sp>
      <p:sp>
        <p:nvSpPr>
          <p:cNvPr id="296" name="3"/>
          <p:cNvSpPr txBox="1"/>
          <p:nvPr/>
        </p:nvSpPr>
        <p:spPr>
          <a:xfrm>
            <a:off x="685800" y="3409950"/>
            <a:ext cx="4953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2</a:t>
            </a:r>
          </a:p>
        </p:txBody>
      </p:sp>
      <p:sp>
        <p:nvSpPr>
          <p:cNvPr id="297" name="Shadow scoring"/>
          <p:cNvSpPr txBox="1"/>
          <p:nvPr/>
        </p:nvSpPr>
        <p:spPr>
          <a:xfrm>
            <a:off x="1352550" y="3409950"/>
            <a:ext cx="33718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Shadow scoring</a:t>
            </a:r>
          </a:p>
        </p:txBody>
      </p:sp>
      <p:sp>
        <p:nvSpPr>
          <p:cNvPr id="298" name="Schedule scoring without changing decisions. "/>
          <p:cNvSpPr txBox="1"/>
          <p:nvPr/>
        </p:nvSpPr>
        <p:spPr>
          <a:xfrm>
            <a:off x="5219700" y="3409950"/>
            <a:ext cx="62865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42F4D"/>
                </a:solidFill>
                <a:latin typeface="Nimbus Sans"/>
                <a:ea typeface="Nimbus Sans"/>
                <a:cs typeface="Nimbus Sans"/>
                <a:sym typeface="Nimbus Sans"/>
              </a:defRPr>
            </a:lvl1pPr>
          </a:lstStyle>
          <a:p>
            <a:pPr/>
            <a:r>
              <a:t>Schedule scoring without changing decisions. Review drift and mature outcomes.</a:t>
            </a:r>
          </a:p>
        </p:txBody>
      </p:sp>
      <p:sp>
        <p:nvSpPr>
          <p:cNvPr id="299" name="4"/>
          <p:cNvSpPr txBox="1"/>
          <p:nvPr/>
        </p:nvSpPr>
        <p:spPr>
          <a:xfrm>
            <a:off x="685800" y="4695825"/>
            <a:ext cx="4953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5DAA"/>
                </a:solidFill>
                <a:latin typeface="Nimbus Sans"/>
                <a:ea typeface="Nimbus Sans"/>
                <a:cs typeface="Nimbus Sans"/>
                <a:sym typeface="Nimbus Sans"/>
              </a:defRPr>
            </a:lvl1pPr>
          </a:lstStyle>
          <a:p>
            <a:pPr/>
            <a:r>
              <a:t>3</a:t>
            </a:r>
          </a:p>
        </p:txBody>
      </p:sp>
      <p:sp>
        <p:nvSpPr>
          <p:cNvPr id="300" name="Controlled rollout"/>
          <p:cNvSpPr txBox="1"/>
          <p:nvPr/>
        </p:nvSpPr>
        <p:spPr>
          <a:xfrm>
            <a:off x="1352550" y="4695825"/>
            <a:ext cx="337185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142F4D"/>
                </a:solidFill>
                <a:latin typeface="Nimbus Sans"/>
                <a:ea typeface="Nimbus Sans"/>
                <a:cs typeface="Nimbus Sans"/>
                <a:sym typeface="Nimbus Sans"/>
              </a:defRPr>
            </a:lvl1pPr>
          </a:lstStyle>
          <a:p>
            <a:pPr/>
            <a:r>
              <a:t>Controlled rollout</a:t>
            </a:r>
          </a:p>
        </p:txBody>
      </p:sp>
      <p:sp>
        <p:nvSpPr>
          <p:cNvPr id="301" name="Define review use, access, monitoring ownersh"/>
          <p:cNvSpPr txBox="1"/>
          <p:nvPr/>
        </p:nvSpPr>
        <p:spPr>
          <a:xfrm>
            <a:off x="5219700" y="4695825"/>
            <a:ext cx="628650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42F4D"/>
                </a:solidFill>
                <a:latin typeface="Nimbus Sans"/>
                <a:ea typeface="Nimbus Sans"/>
                <a:cs typeface="Nimbus Sans"/>
                <a:sym typeface="Nimbus Sans"/>
              </a:defRPr>
            </a:lvl1pPr>
          </a:lstStyle>
          <a:p>
            <a:pPr/>
            <a:r>
              <a:t>Define review use, access, monitoring ownership and a tested rollback path.</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lide title"/>
          <p:cNvSpPr txBox="1"/>
          <p:nvPr/>
        </p:nvSpPr>
        <p:spPr>
          <a:xfrm>
            <a:off x="685800" y="590550"/>
            <a:ext cx="1028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42F4D"/>
                </a:solidFill>
                <a:latin typeface="Nimbus Sans"/>
                <a:ea typeface="Nimbus Sans"/>
                <a:cs typeface="Nimbus Sans"/>
                <a:sym typeface="Nimbus Sans"/>
              </a:defRPr>
            </a:lvl1pPr>
          </a:lstStyle>
          <a:p>
            <a:pPr/>
            <a:r>
              <a:t>AI assistance</a:t>
            </a:r>
          </a:p>
        </p:txBody>
      </p:sp>
      <p:sp>
        <p:nvSpPr>
          <p:cNvPr id="306" name="Divider"/>
          <p:cNvSpPr/>
          <p:nvPr/>
        </p:nvSpPr>
        <p:spPr>
          <a:xfrm>
            <a:off x="685800" y="1381125"/>
            <a:ext cx="10820400" cy="14288"/>
          </a:xfrm>
          <a:prstGeom prst="rect">
            <a:avLst/>
          </a:prstGeom>
          <a:solidFill>
            <a:srgbClr val="DFE6ED"/>
          </a:solidFill>
          <a:ln w="12700">
            <a:miter lim="400000"/>
          </a:ln>
        </p:spPr>
        <p:txBody>
          <a:bodyPr lIns="0" tIns="0" rIns="0" bIns="0"/>
          <a:lstStyle/>
          <a:p>
            <a:pPr/>
          </a:p>
        </p:txBody>
      </p:sp>
      <p:sp>
        <p:nvSpPr>
          <p:cNvPr id="307" name="15"/>
          <p:cNvSpPr txBox="1"/>
          <p:nvPr/>
        </p:nvSpPr>
        <p:spPr>
          <a:xfrm>
            <a:off x="11087100" y="638175"/>
            <a:ext cx="41910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52677D"/>
                </a:solidFill>
                <a:latin typeface="Nimbus Sans"/>
                <a:ea typeface="Nimbus Sans"/>
                <a:cs typeface="Nimbus Sans"/>
                <a:sym typeface="Nimbus Sans"/>
              </a:defRPr>
            </a:lvl1pPr>
          </a:lstStyle>
          <a:p>
            <a:pPr/>
            <a:r>
              <a:t>15</a:t>
            </a:r>
          </a:p>
        </p:txBody>
      </p:sp>
      <p:sp>
        <p:nvSpPr>
          <p:cNvPr id="308" name="ChatGPT/Codex assisted with code validationa"/>
          <p:cNvSpPr txBox="1"/>
          <p:nvPr/>
        </p:nvSpPr>
        <p:spPr>
          <a:xfrm>
            <a:off x="685800" y="2638425"/>
            <a:ext cx="10820400" cy="889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900">
                <a:solidFill>
                  <a:srgbClr val="005DAA"/>
                </a:solidFill>
                <a:latin typeface="Nimbus Sans"/>
                <a:ea typeface="Nimbus Sans"/>
                <a:cs typeface="Nimbus Sans"/>
                <a:sym typeface="Nimbus Sans"/>
              </a:defRPr>
            </a:pPr>
            <a:r>
              <a:t>ChatGPT/Codex assisted with code validation</a:t>
            </a:r>
          </a:p>
          <a:p>
            <a:pPr>
              <a:defRPr b="1" sz="2900">
                <a:solidFill>
                  <a:srgbClr val="005DAA"/>
                </a:solidFill>
                <a:latin typeface="Nimbus Sans"/>
                <a:ea typeface="Nimbus Sans"/>
                <a:cs typeface="Nimbus Sans"/>
                <a:sym typeface="Nimbus Sans"/>
              </a:defRPr>
            </a:pPr>
            <a:r>
              <a:t>and creation of this presentation.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ptos"/>
            <a:ea typeface="Aptos"/>
            <a:cs typeface="Apto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